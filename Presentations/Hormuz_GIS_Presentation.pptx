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2925" autoAdjust="0"/>
  </p:normalViewPr>
  <p:slideViewPr>
    <p:cSldViewPr snapToGrid="0" snapToObjects="1">
      <p:cViewPr varScale="1">
        <p:scale>
          <a:sx n="81" d="100"/>
          <a:sy n="81" d="100"/>
        </p:scale>
        <p:origin x="8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064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pic>
        <p:nvPicPr>
          <p:cNvPr id="2" name="Image 0" descr="/home/claude/hormuz_pptx/region_map.png"/>
          <p:cNvPicPr>
            <a:picLocks noChangeAspect="1"/>
          </p:cNvPicPr>
          <p:nvPr/>
        </p:nvPicPr>
        <p:blipFill>
          <a:blip r:embed="rId3">
            <a:alphaModFix amt="30000"/>
          </a:blip>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55000"/>
            </a:srgbClr>
          </a:solidFill>
          <a:ln/>
        </p:spPr>
      </p:sp>
      <p:sp>
        <p:nvSpPr>
          <p:cNvPr id="4" name="Shape 1"/>
          <p:cNvSpPr/>
          <p:nvPr/>
        </p:nvSpPr>
        <p:spPr>
          <a:xfrm>
            <a:off x="0" y="0"/>
            <a:ext cx="109728" cy="5143500"/>
          </a:xfrm>
          <a:prstGeom prst="rect">
            <a:avLst/>
          </a:prstGeom>
          <a:solidFill>
            <a:srgbClr val="E74C3C"/>
          </a:solidFill>
          <a:ln/>
        </p:spPr>
      </p:sp>
      <p:sp>
        <p:nvSpPr>
          <p:cNvPr id="5" name="Text 2"/>
          <p:cNvSpPr/>
          <p:nvPr/>
        </p:nvSpPr>
        <p:spPr>
          <a:xfrm>
            <a:off x="365760" y="640080"/>
            <a:ext cx="8412480" cy="640080"/>
          </a:xfrm>
          <a:prstGeom prst="rect">
            <a:avLst/>
          </a:prstGeom>
          <a:noFill/>
          <a:ln/>
        </p:spPr>
        <p:txBody>
          <a:bodyPr wrap="square" lIns="0" tIns="0" rIns="0" bIns="0" rtlCol="0" anchor="ctr"/>
          <a:lstStyle/>
          <a:p>
            <a:pPr marL="0" indent="0">
              <a:buNone/>
            </a:pPr>
            <a:r>
              <a:rPr lang="en-US" sz="1800" b="1" kern="0" spc="400" dirty="0">
                <a:solidFill>
                  <a:srgbClr val="F0A500"/>
                </a:solidFill>
                <a:latin typeface="Calibri" pitchFamily="34" charset="0"/>
                <a:ea typeface="Calibri" pitchFamily="34" charset="-122"/>
                <a:cs typeface="Calibri" pitchFamily="34" charset="-120"/>
              </a:rPr>
              <a:t>WHY GEOGRAPHY MATTERS</a:t>
            </a:r>
            <a:endParaRPr lang="en-US" sz="1800" dirty="0"/>
          </a:p>
        </p:txBody>
      </p:sp>
      <p:sp>
        <p:nvSpPr>
          <p:cNvPr id="6" name="Text 3"/>
          <p:cNvSpPr/>
          <p:nvPr/>
        </p:nvSpPr>
        <p:spPr>
          <a:xfrm>
            <a:off x="365760" y="1188720"/>
            <a:ext cx="7315200" cy="1645920"/>
          </a:xfrm>
          <a:prstGeom prst="rect">
            <a:avLst/>
          </a:prstGeom>
          <a:noFill/>
          <a:ln/>
        </p:spPr>
        <p:txBody>
          <a:bodyPr wrap="square" lIns="0" tIns="0" rIns="0" bIns="0" rtlCol="0" anchor="ctr"/>
          <a:lstStyle/>
          <a:p>
            <a:pPr marL="0" indent="0">
              <a:buNone/>
            </a:pPr>
            <a:r>
              <a:rPr lang="en-US" sz="4200" b="1" dirty="0">
                <a:solidFill>
                  <a:srgbClr val="FFFFFF"/>
                </a:solidFill>
                <a:latin typeface="Calibri" pitchFamily="34" charset="0"/>
                <a:ea typeface="Calibri" pitchFamily="34" charset="-122"/>
                <a:cs typeface="Calibri" pitchFamily="34" charset="-120"/>
              </a:rPr>
              <a:t>Strategic Location of the</a:t>
            </a:r>
            <a:endParaRPr lang="en-US" sz="4200" dirty="0"/>
          </a:p>
          <a:p>
            <a:pPr marL="0" indent="0">
              <a:buNone/>
            </a:pPr>
            <a:r>
              <a:rPr lang="en-US" sz="4200" b="1" dirty="0">
                <a:solidFill>
                  <a:srgbClr val="FFFFFF"/>
                </a:solidFill>
                <a:latin typeface="Calibri" pitchFamily="34" charset="0"/>
                <a:ea typeface="Calibri" pitchFamily="34" charset="-122"/>
                <a:cs typeface="Calibri" pitchFamily="34" charset="-120"/>
              </a:rPr>
              <a:t>Strait of Hormuz</a:t>
            </a:r>
            <a:endParaRPr lang="en-US" sz="4200" dirty="0"/>
          </a:p>
        </p:txBody>
      </p:sp>
      <p:sp>
        <p:nvSpPr>
          <p:cNvPr id="7" name="Shape 4"/>
          <p:cNvSpPr/>
          <p:nvPr/>
        </p:nvSpPr>
        <p:spPr>
          <a:xfrm>
            <a:off x="365760" y="2926080"/>
            <a:ext cx="5029200" cy="45720"/>
          </a:xfrm>
          <a:prstGeom prst="rect">
            <a:avLst/>
          </a:prstGeom>
          <a:solidFill>
            <a:srgbClr val="E74C3C"/>
          </a:solidFill>
          <a:ln/>
        </p:spPr>
      </p:sp>
      <p:sp>
        <p:nvSpPr>
          <p:cNvPr id="8" name="Text 5"/>
          <p:cNvSpPr/>
          <p:nvPr/>
        </p:nvSpPr>
        <p:spPr>
          <a:xfrm>
            <a:off x="365760" y="3063240"/>
            <a:ext cx="7315200" cy="365760"/>
          </a:xfrm>
          <a:prstGeom prst="rect">
            <a:avLst/>
          </a:prstGeom>
          <a:noFill/>
          <a:ln/>
        </p:spPr>
        <p:txBody>
          <a:bodyPr wrap="square" lIns="0" tIns="0" rIns="0" bIns="0" rtlCol="0" anchor="ctr"/>
          <a:lstStyle/>
          <a:p>
            <a:pPr marL="0" indent="0">
              <a:buNone/>
            </a:pPr>
            <a:r>
              <a:rPr lang="en-US" sz="1300" i="1" dirty="0">
                <a:solidFill>
                  <a:srgbClr val="D6E4F0"/>
                </a:solidFill>
                <a:latin typeface="Calibri" pitchFamily="34" charset="0"/>
                <a:ea typeface="Calibri" pitchFamily="34" charset="-122"/>
                <a:cs typeface="Calibri" pitchFamily="34" charset="-120"/>
              </a:rPr>
              <a:t>A GIS Analysis Using QGIS | Natural Earth · DIVA-GIS · Global Energy Monitor</a:t>
            </a:r>
            <a:endParaRPr lang="en-US" sz="1300" dirty="0"/>
          </a:p>
        </p:txBody>
      </p:sp>
      <p:sp>
        <p:nvSpPr>
          <p:cNvPr id="9" name="Text 6"/>
          <p:cNvSpPr/>
          <p:nvPr/>
        </p:nvSpPr>
        <p:spPr>
          <a:xfrm>
            <a:off x="365760" y="4480560"/>
            <a:ext cx="8229600" cy="365760"/>
          </a:xfrm>
          <a:prstGeom prst="rect">
            <a:avLst/>
          </a:prstGeom>
          <a:noFill/>
          <a:ln/>
        </p:spPr>
        <p:txBody>
          <a:bodyPr wrap="square" lIns="0" tIns="0" rIns="0" bIns="0" rtlCol="0" anchor="ctr"/>
          <a:lstStyle/>
          <a:p>
            <a:pPr marL="0" indent="0">
              <a:buNone/>
            </a:pPr>
            <a:r>
              <a:rPr lang="en-US" sz="1200" dirty="0">
                <a:solidFill>
                  <a:srgbClr val="8BAFC9"/>
                </a:solidFill>
                <a:latin typeface="Calibri" pitchFamily="34" charset="0"/>
                <a:ea typeface="Calibri" pitchFamily="34" charset="-122"/>
                <a:cs typeface="Calibri" pitchFamily="34" charset="-120"/>
              </a:rPr>
              <a:t>GIS Practical Project  ·  April 16,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Presentation Overview</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Strait of Hormuz GIS Project</a:t>
            </a:r>
            <a:endParaRPr lang="en-US" sz="1200" dirty="0"/>
          </a:p>
        </p:txBody>
      </p:sp>
      <p:sp>
        <p:nvSpPr>
          <p:cNvPr id="5" name="Shape 3"/>
          <p:cNvSpPr/>
          <p:nvPr/>
        </p:nvSpPr>
        <p:spPr>
          <a:xfrm>
            <a:off x="274320" y="822960"/>
            <a:ext cx="4206240" cy="914400"/>
          </a:xfrm>
          <a:prstGeom prst="rect">
            <a:avLst/>
          </a:prstGeom>
          <a:solidFill>
            <a:srgbClr val="1C2E44"/>
          </a:solidFill>
          <a:ln/>
          <a:effectLst>
            <a:outerShdw blurRad="101600" dist="38100" dir="8100000" algn="bl" rotWithShape="0">
              <a:srgbClr val="000000">
                <a:alpha val="20000"/>
              </a:srgbClr>
            </a:outerShdw>
          </a:effectLst>
        </p:spPr>
      </p:sp>
      <p:sp>
        <p:nvSpPr>
          <p:cNvPr id="6" name="Shape 4"/>
          <p:cNvSpPr/>
          <p:nvPr/>
        </p:nvSpPr>
        <p:spPr>
          <a:xfrm>
            <a:off x="274320" y="822960"/>
            <a:ext cx="502920" cy="914400"/>
          </a:xfrm>
          <a:prstGeom prst="rect">
            <a:avLst/>
          </a:prstGeom>
          <a:solidFill>
            <a:srgbClr val="1F6FBE"/>
          </a:solidFill>
          <a:ln/>
        </p:spPr>
      </p:sp>
      <p:sp>
        <p:nvSpPr>
          <p:cNvPr id="7" name="Text 5"/>
          <p:cNvSpPr/>
          <p:nvPr/>
        </p:nvSpPr>
        <p:spPr>
          <a:xfrm>
            <a:off x="320040" y="1078992"/>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8" name="Text 6"/>
          <p:cNvSpPr/>
          <p:nvPr/>
        </p:nvSpPr>
        <p:spPr>
          <a:xfrm>
            <a:off x="868680" y="896112"/>
            <a:ext cx="3520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Introduction &amp; Location</a:t>
            </a:r>
            <a:endParaRPr lang="en-US" sz="1200" dirty="0"/>
          </a:p>
        </p:txBody>
      </p:sp>
      <p:sp>
        <p:nvSpPr>
          <p:cNvPr id="9" name="Text 7"/>
          <p:cNvSpPr/>
          <p:nvPr/>
        </p:nvSpPr>
        <p:spPr>
          <a:xfrm>
            <a:off x="868680" y="1261872"/>
            <a:ext cx="3520440" cy="384048"/>
          </a:xfrm>
          <a:prstGeom prst="rect">
            <a:avLst/>
          </a:prstGeom>
          <a:noFill/>
          <a:ln/>
        </p:spPr>
        <p:txBody>
          <a:bodyPr wrap="square" lIns="0" tIns="0" rIns="0" bIns="0" rtlCol="0" anchor="ctr"/>
          <a:lstStyle/>
          <a:p>
            <a:pPr marL="0" indent="0">
              <a:buNone/>
            </a:pPr>
            <a:r>
              <a:rPr lang="en-US" sz="900" dirty="0">
                <a:solidFill>
                  <a:srgbClr val="A8C4D8"/>
                </a:solidFill>
                <a:latin typeface="Calibri" pitchFamily="34" charset="0"/>
                <a:ea typeface="Calibri" pitchFamily="34" charset="-122"/>
                <a:cs typeface="Calibri" pitchFamily="34" charset="-120"/>
              </a:rPr>
              <a:t>Where is the Strait and why does it matter geographically?</a:t>
            </a:r>
            <a:endParaRPr lang="en-US" sz="900" dirty="0"/>
          </a:p>
        </p:txBody>
      </p:sp>
      <p:sp>
        <p:nvSpPr>
          <p:cNvPr id="10" name="Shape 8"/>
          <p:cNvSpPr/>
          <p:nvPr/>
        </p:nvSpPr>
        <p:spPr>
          <a:xfrm>
            <a:off x="274320" y="1847088"/>
            <a:ext cx="4206240" cy="914400"/>
          </a:xfrm>
          <a:prstGeom prst="rect">
            <a:avLst/>
          </a:prstGeom>
          <a:solidFill>
            <a:srgbClr val="1C2E44"/>
          </a:solidFill>
          <a:ln/>
          <a:effectLst>
            <a:outerShdw blurRad="101600" dist="38100" dir="8100000" algn="bl" rotWithShape="0">
              <a:srgbClr val="000000">
                <a:alpha val="20000"/>
              </a:srgbClr>
            </a:outerShdw>
          </a:effectLst>
        </p:spPr>
      </p:sp>
      <p:sp>
        <p:nvSpPr>
          <p:cNvPr id="11" name="Shape 9"/>
          <p:cNvSpPr/>
          <p:nvPr/>
        </p:nvSpPr>
        <p:spPr>
          <a:xfrm>
            <a:off x="274320" y="1847088"/>
            <a:ext cx="502920" cy="914400"/>
          </a:xfrm>
          <a:prstGeom prst="rect">
            <a:avLst/>
          </a:prstGeom>
          <a:solidFill>
            <a:srgbClr val="1F6FBE"/>
          </a:solidFill>
          <a:ln/>
        </p:spPr>
      </p:sp>
      <p:sp>
        <p:nvSpPr>
          <p:cNvPr id="12" name="Text 10"/>
          <p:cNvSpPr/>
          <p:nvPr/>
        </p:nvSpPr>
        <p:spPr>
          <a:xfrm>
            <a:off x="320040" y="210312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3" name="Text 11"/>
          <p:cNvSpPr/>
          <p:nvPr/>
        </p:nvSpPr>
        <p:spPr>
          <a:xfrm>
            <a:off x="868680" y="1920240"/>
            <a:ext cx="3520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&amp; Methodology</a:t>
            </a:r>
            <a:endParaRPr lang="en-US" sz="1200" dirty="0"/>
          </a:p>
        </p:txBody>
      </p:sp>
      <p:sp>
        <p:nvSpPr>
          <p:cNvPr id="14" name="Text 12"/>
          <p:cNvSpPr/>
          <p:nvPr/>
        </p:nvSpPr>
        <p:spPr>
          <a:xfrm>
            <a:off x="868680" y="2286000"/>
            <a:ext cx="3520440" cy="384048"/>
          </a:xfrm>
          <a:prstGeom prst="rect">
            <a:avLst/>
          </a:prstGeom>
          <a:noFill/>
          <a:ln/>
        </p:spPr>
        <p:txBody>
          <a:bodyPr wrap="square" lIns="0" tIns="0" rIns="0" bIns="0" rtlCol="0" anchor="ctr"/>
          <a:lstStyle/>
          <a:p>
            <a:pPr marL="0" indent="0">
              <a:buNone/>
            </a:pPr>
            <a:r>
              <a:rPr lang="en-US" sz="900" dirty="0">
                <a:solidFill>
                  <a:srgbClr val="A8C4D8"/>
                </a:solidFill>
                <a:latin typeface="Calibri" pitchFamily="34" charset="0"/>
                <a:ea typeface="Calibri" pitchFamily="34" charset="-122"/>
                <a:cs typeface="Calibri" pitchFamily="34" charset="-120"/>
              </a:rPr>
              <a:t>What GIS data was collected and how maps were made in QGIS</a:t>
            </a:r>
            <a:endParaRPr lang="en-US" sz="900" dirty="0"/>
          </a:p>
        </p:txBody>
      </p:sp>
      <p:sp>
        <p:nvSpPr>
          <p:cNvPr id="15" name="Shape 13"/>
          <p:cNvSpPr/>
          <p:nvPr/>
        </p:nvSpPr>
        <p:spPr>
          <a:xfrm>
            <a:off x="274320" y="2871216"/>
            <a:ext cx="4206240" cy="914400"/>
          </a:xfrm>
          <a:prstGeom prst="rect">
            <a:avLst/>
          </a:prstGeom>
          <a:solidFill>
            <a:srgbClr val="1C2E44"/>
          </a:solidFill>
          <a:ln/>
          <a:effectLst>
            <a:outerShdw blurRad="101600" dist="38100" dir="8100000" algn="bl" rotWithShape="0">
              <a:srgbClr val="000000">
                <a:alpha val="20000"/>
              </a:srgbClr>
            </a:outerShdw>
          </a:effectLst>
        </p:spPr>
      </p:sp>
      <p:sp>
        <p:nvSpPr>
          <p:cNvPr id="16" name="Shape 14"/>
          <p:cNvSpPr/>
          <p:nvPr/>
        </p:nvSpPr>
        <p:spPr>
          <a:xfrm>
            <a:off x="274320" y="2871216"/>
            <a:ext cx="502920" cy="914400"/>
          </a:xfrm>
          <a:prstGeom prst="rect">
            <a:avLst/>
          </a:prstGeom>
          <a:solidFill>
            <a:srgbClr val="1F6FBE"/>
          </a:solidFill>
          <a:ln/>
        </p:spPr>
      </p:sp>
      <p:sp>
        <p:nvSpPr>
          <p:cNvPr id="17" name="Text 15"/>
          <p:cNvSpPr/>
          <p:nvPr/>
        </p:nvSpPr>
        <p:spPr>
          <a:xfrm>
            <a:off x="320040" y="3127248"/>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8" name="Text 16"/>
          <p:cNvSpPr/>
          <p:nvPr/>
        </p:nvSpPr>
        <p:spPr>
          <a:xfrm>
            <a:off x="868680" y="2944368"/>
            <a:ext cx="3520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Political Map Analysis</a:t>
            </a:r>
            <a:endParaRPr lang="en-US" sz="1200" dirty="0"/>
          </a:p>
        </p:txBody>
      </p:sp>
      <p:sp>
        <p:nvSpPr>
          <p:cNvPr id="19" name="Text 17"/>
          <p:cNvSpPr/>
          <p:nvPr/>
        </p:nvSpPr>
        <p:spPr>
          <a:xfrm>
            <a:off x="868680" y="3310128"/>
            <a:ext cx="3520440" cy="384048"/>
          </a:xfrm>
          <a:prstGeom prst="rect">
            <a:avLst/>
          </a:prstGeom>
          <a:noFill/>
          <a:ln/>
        </p:spPr>
        <p:txBody>
          <a:bodyPr wrap="square" lIns="0" tIns="0" rIns="0" bIns="0" rtlCol="0" anchor="ctr"/>
          <a:lstStyle/>
          <a:p>
            <a:pPr marL="0" indent="0">
              <a:buNone/>
            </a:pPr>
            <a:r>
              <a:rPr lang="en-US" sz="900" dirty="0">
                <a:solidFill>
                  <a:srgbClr val="A8C4D8"/>
                </a:solidFill>
                <a:latin typeface="Calibri" pitchFamily="34" charset="0"/>
                <a:ea typeface="Calibri" pitchFamily="34" charset="-122"/>
                <a:cs typeface="Calibri" pitchFamily="34" charset="-120"/>
              </a:rPr>
              <a:t>Country borders, coastal control and political geography</a:t>
            </a:r>
            <a:endParaRPr lang="en-US" sz="900" dirty="0"/>
          </a:p>
        </p:txBody>
      </p:sp>
      <p:sp>
        <p:nvSpPr>
          <p:cNvPr id="20" name="Shape 18"/>
          <p:cNvSpPr/>
          <p:nvPr/>
        </p:nvSpPr>
        <p:spPr>
          <a:xfrm>
            <a:off x="274320" y="3895344"/>
            <a:ext cx="4206240" cy="914400"/>
          </a:xfrm>
          <a:prstGeom prst="rect">
            <a:avLst/>
          </a:prstGeom>
          <a:solidFill>
            <a:srgbClr val="1C2E44"/>
          </a:solidFill>
          <a:ln/>
          <a:effectLst>
            <a:outerShdw blurRad="101600" dist="38100" dir="8100000" algn="bl" rotWithShape="0">
              <a:srgbClr val="000000">
                <a:alpha val="20000"/>
              </a:srgbClr>
            </a:outerShdw>
          </a:effectLst>
        </p:spPr>
      </p:sp>
      <p:sp>
        <p:nvSpPr>
          <p:cNvPr id="21" name="Shape 19"/>
          <p:cNvSpPr/>
          <p:nvPr/>
        </p:nvSpPr>
        <p:spPr>
          <a:xfrm>
            <a:off x="274320" y="3895344"/>
            <a:ext cx="502920" cy="914400"/>
          </a:xfrm>
          <a:prstGeom prst="rect">
            <a:avLst/>
          </a:prstGeom>
          <a:solidFill>
            <a:srgbClr val="1F6FBE"/>
          </a:solidFill>
          <a:ln/>
        </p:spPr>
      </p:sp>
      <p:sp>
        <p:nvSpPr>
          <p:cNvPr id="22" name="Text 20"/>
          <p:cNvSpPr/>
          <p:nvPr/>
        </p:nvSpPr>
        <p:spPr>
          <a:xfrm>
            <a:off x="320040" y="4151376"/>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3" name="Text 21"/>
          <p:cNvSpPr/>
          <p:nvPr/>
        </p:nvSpPr>
        <p:spPr>
          <a:xfrm>
            <a:off x="868680" y="3968496"/>
            <a:ext cx="3520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Resource Map Analysis</a:t>
            </a:r>
            <a:endParaRPr lang="en-US" sz="1200" dirty="0"/>
          </a:p>
        </p:txBody>
      </p:sp>
      <p:sp>
        <p:nvSpPr>
          <p:cNvPr id="24" name="Text 22"/>
          <p:cNvSpPr/>
          <p:nvPr/>
        </p:nvSpPr>
        <p:spPr>
          <a:xfrm>
            <a:off x="868680" y="4334256"/>
            <a:ext cx="3520440" cy="384048"/>
          </a:xfrm>
          <a:prstGeom prst="rect">
            <a:avLst/>
          </a:prstGeom>
          <a:noFill/>
          <a:ln/>
        </p:spPr>
        <p:txBody>
          <a:bodyPr wrap="square" lIns="0" tIns="0" rIns="0" bIns="0" rtlCol="0" anchor="ctr"/>
          <a:lstStyle/>
          <a:p>
            <a:pPr marL="0" indent="0">
              <a:buNone/>
            </a:pPr>
            <a:r>
              <a:rPr lang="en-US" sz="900" dirty="0">
                <a:solidFill>
                  <a:srgbClr val="A8C4D8"/>
                </a:solidFill>
                <a:latin typeface="Calibri" pitchFamily="34" charset="0"/>
                <a:ea typeface="Calibri" pitchFamily="34" charset="-122"/>
                <a:cs typeface="Calibri" pitchFamily="34" charset="-120"/>
              </a:rPr>
              <a:t>Oil and gas field distribution across the region</a:t>
            </a:r>
            <a:endParaRPr lang="en-US" sz="900" dirty="0"/>
          </a:p>
        </p:txBody>
      </p:sp>
      <p:sp>
        <p:nvSpPr>
          <p:cNvPr id="25" name="Shape 23"/>
          <p:cNvSpPr/>
          <p:nvPr/>
        </p:nvSpPr>
        <p:spPr>
          <a:xfrm>
            <a:off x="4754880" y="822960"/>
            <a:ext cx="4206240" cy="914400"/>
          </a:xfrm>
          <a:prstGeom prst="rect">
            <a:avLst/>
          </a:prstGeom>
          <a:solidFill>
            <a:srgbClr val="1C2E44"/>
          </a:solidFill>
          <a:ln/>
          <a:effectLst>
            <a:outerShdw blurRad="101600" dist="38100" dir="8100000" algn="bl" rotWithShape="0">
              <a:srgbClr val="000000">
                <a:alpha val="20000"/>
              </a:srgbClr>
            </a:outerShdw>
          </a:effectLst>
        </p:spPr>
      </p:sp>
      <p:sp>
        <p:nvSpPr>
          <p:cNvPr id="26" name="Shape 24"/>
          <p:cNvSpPr/>
          <p:nvPr/>
        </p:nvSpPr>
        <p:spPr>
          <a:xfrm>
            <a:off x="4754880" y="822960"/>
            <a:ext cx="502920" cy="914400"/>
          </a:xfrm>
          <a:prstGeom prst="rect">
            <a:avLst/>
          </a:prstGeom>
          <a:solidFill>
            <a:srgbClr val="1F6FBE"/>
          </a:solidFill>
          <a:ln/>
        </p:spPr>
      </p:sp>
      <p:sp>
        <p:nvSpPr>
          <p:cNvPr id="27" name="Text 25"/>
          <p:cNvSpPr/>
          <p:nvPr/>
        </p:nvSpPr>
        <p:spPr>
          <a:xfrm>
            <a:off x="4800600" y="1078992"/>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8" name="Text 26"/>
          <p:cNvSpPr/>
          <p:nvPr/>
        </p:nvSpPr>
        <p:spPr>
          <a:xfrm>
            <a:off x="5349240" y="896112"/>
            <a:ext cx="3520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Shipping Routes Analysis</a:t>
            </a:r>
            <a:endParaRPr lang="en-US" sz="1200" dirty="0"/>
          </a:p>
        </p:txBody>
      </p:sp>
      <p:sp>
        <p:nvSpPr>
          <p:cNvPr id="29" name="Text 27"/>
          <p:cNvSpPr/>
          <p:nvPr/>
        </p:nvSpPr>
        <p:spPr>
          <a:xfrm>
            <a:off x="5349240" y="1261872"/>
            <a:ext cx="3520440" cy="384048"/>
          </a:xfrm>
          <a:prstGeom prst="rect">
            <a:avLst/>
          </a:prstGeom>
          <a:noFill/>
          <a:ln/>
        </p:spPr>
        <p:txBody>
          <a:bodyPr wrap="square" lIns="0" tIns="0" rIns="0" bIns="0" rtlCol="0" anchor="ctr"/>
          <a:lstStyle/>
          <a:p>
            <a:pPr marL="0" indent="0">
              <a:buNone/>
            </a:pPr>
            <a:r>
              <a:rPr lang="en-US" sz="900" dirty="0">
                <a:solidFill>
                  <a:srgbClr val="A8C4D8"/>
                </a:solidFill>
                <a:latin typeface="Calibri" pitchFamily="34" charset="0"/>
                <a:ea typeface="Calibri" pitchFamily="34" charset="-122"/>
                <a:cs typeface="Calibri" pitchFamily="34" charset="-120"/>
              </a:rPr>
              <a:t>Maritime trade lanes and the chokepoint mechanism</a:t>
            </a:r>
            <a:endParaRPr lang="en-US" sz="900" dirty="0"/>
          </a:p>
        </p:txBody>
      </p:sp>
      <p:sp>
        <p:nvSpPr>
          <p:cNvPr id="30" name="Shape 28"/>
          <p:cNvSpPr/>
          <p:nvPr/>
        </p:nvSpPr>
        <p:spPr>
          <a:xfrm>
            <a:off x="4754880" y="1847088"/>
            <a:ext cx="4206240" cy="914400"/>
          </a:xfrm>
          <a:prstGeom prst="rect">
            <a:avLst/>
          </a:prstGeom>
          <a:solidFill>
            <a:srgbClr val="1C2E44"/>
          </a:solidFill>
          <a:ln/>
          <a:effectLst>
            <a:outerShdw blurRad="101600" dist="38100" dir="8100000" algn="bl" rotWithShape="0">
              <a:srgbClr val="000000">
                <a:alpha val="20000"/>
              </a:srgbClr>
            </a:outerShdw>
          </a:effectLst>
        </p:spPr>
      </p:sp>
      <p:sp>
        <p:nvSpPr>
          <p:cNvPr id="31" name="Shape 29"/>
          <p:cNvSpPr/>
          <p:nvPr/>
        </p:nvSpPr>
        <p:spPr>
          <a:xfrm>
            <a:off x="4754880" y="1847088"/>
            <a:ext cx="502920" cy="914400"/>
          </a:xfrm>
          <a:prstGeom prst="rect">
            <a:avLst/>
          </a:prstGeom>
          <a:solidFill>
            <a:srgbClr val="1F6FBE"/>
          </a:solidFill>
          <a:ln/>
        </p:spPr>
      </p:sp>
      <p:sp>
        <p:nvSpPr>
          <p:cNvPr id="32" name="Text 30"/>
          <p:cNvSpPr/>
          <p:nvPr/>
        </p:nvSpPr>
        <p:spPr>
          <a:xfrm>
            <a:off x="4800600" y="210312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33" name="Text 31"/>
          <p:cNvSpPr/>
          <p:nvPr/>
        </p:nvSpPr>
        <p:spPr>
          <a:xfrm>
            <a:off x="5349240" y="1920240"/>
            <a:ext cx="3520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Population Distribution</a:t>
            </a:r>
            <a:endParaRPr lang="en-US" sz="1200" dirty="0"/>
          </a:p>
        </p:txBody>
      </p:sp>
      <p:sp>
        <p:nvSpPr>
          <p:cNvPr id="34" name="Text 32"/>
          <p:cNvSpPr/>
          <p:nvPr/>
        </p:nvSpPr>
        <p:spPr>
          <a:xfrm>
            <a:off x="5349240" y="2286000"/>
            <a:ext cx="3520440" cy="384048"/>
          </a:xfrm>
          <a:prstGeom prst="rect">
            <a:avLst/>
          </a:prstGeom>
          <a:noFill/>
          <a:ln/>
        </p:spPr>
        <p:txBody>
          <a:bodyPr wrap="square" lIns="0" tIns="0" rIns="0" bIns="0" rtlCol="0" anchor="ctr"/>
          <a:lstStyle/>
          <a:p>
            <a:pPr marL="0" indent="0">
              <a:buNone/>
            </a:pPr>
            <a:r>
              <a:rPr lang="en-US" sz="900" dirty="0">
                <a:solidFill>
                  <a:srgbClr val="A8C4D8"/>
                </a:solidFill>
                <a:latin typeface="Calibri" pitchFamily="34" charset="0"/>
                <a:ea typeface="Calibri" pitchFamily="34" charset="-122"/>
                <a:cs typeface="Calibri" pitchFamily="34" charset="-120"/>
              </a:rPr>
              <a:t>Demographic patterns and coastal dependency</a:t>
            </a:r>
            <a:endParaRPr lang="en-US" sz="900" dirty="0"/>
          </a:p>
        </p:txBody>
      </p:sp>
      <p:sp>
        <p:nvSpPr>
          <p:cNvPr id="35" name="Shape 33"/>
          <p:cNvSpPr/>
          <p:nvPr/>
        </p:nvSpPr>
        <p:spPr>
          <a:xfrm>
            <a:off x="4754880" y="2871216"/>
            <a:ext cx="4206240" cy="914400"/>
          </a:xfrm>
          <a:prstGeom prst="rect">
            <a:avLst/>
          </a:prstGeom>
          <a:solidFill>
            <a:srgbClr val="1C2E44"/>
          </a:solidFill>
          <a:ln/>
          <a:effectLst>
            <a:outerShdw blurRad="101600" dist="38100" dir="8100000" algn="bl" rotWithShape="0">
              <a:srgbClr val="000000">
                <a:alpha val="20000"/>
              </a:srgbClr>
            </a:outerShdw>
          </a:effectLst>
        </p:spPr>
      </p:sp>
      <p:sp>
        <p:nvSpPr>
          <p:cNvPr id="36" name="Shape 34"/>
          <p:cNvSpPr/>
          <p:nvPr/>
        </p:nvSpPr>
        <p:spPr>
          <a:xfrm>
            <a:off x="4754880" y="2871216"/>
            <a:ext cx="502920" cy="914400"/>
          </a:xfrm>
          <a:prstGeom prst="rect">
            <a:avLst/>
          </a:prstGeom>
          <a:solidFill>
            <a:srgbClr val="1F6FBE"/>
          </a:solidFill>
          <a:ln/>
        </p:spPr>
      </p:sp>
      <p:sp>
        <p:nvSpPr>
          <p:cNvPr id="37" name="Text 35"/>
          <p:cNvSpPr/>
          <p:nvPr/>
        </p:nvSpPr>
        <p:spPr>
          <a:xfrm>
            <a:off x="4800600" y="3127248"/>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07</a:t>
            </a:r>
            <a:endParaRPr lang="en-US" sz="1800" dirty="0"/>
          </a:p>
        </p:txBody>
      </p:sp>
      <p:sp>
        <p:nvSpPr>
          <p:cNvPr id="38" name="Text 36"/>
          <p:cNvSpPr/>
          <p:nvPr/>
        </p:nvSpPr>
        <p:spPr>
          <a:xfrm>
            <a:off x="5349240" y="2944368"/>
            <a:ext cx="3520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Geographic Importance</a:t>
            </a:r>
            <a:endParaRPr lang="en-US" sz="1200" dirty="0"/>
          </a:p>
        </p:txBody>
      </p:sp>
      <p:sp>
        <p:nvSpPr>
          <p:cNvPr id="39" name="Text 37"/>
          <p:cNvSpPr/>
          <p:nvPr/>
        </p:nvSpPr>
        <p:spPr>
          <a:xfrm>
            <a:off x="5349240" y="3310128"/>
            <a:ext cx="3520440" cy="384048"/>
          </a:xfrm>
          <a:prstGeom prst="rect">
            <a:avLst/>
          </a:prstGeom>
          <a:noFill/>
          <a:ln/>
        </p:spPr>
        <p:txBody>
          <a:bodyPr wrap="square" lIns="0" tIns="0" rIns="0" bIns="0" rtlCol="0" anchor="ctr"/>
          <a:lstStyle/>
          <a:p>
            <a:pPr marL="0" indent="0">
              <a:buNone/>
            </a:pPr>
            <a:r>
              <a:rPr lang="en-US" sz="900" dirty="0">
                <a:solidFill>
                  <a:srgbClr val="A8C4D8"/>
                </a:solidFill>
                <a:latin typeface="Calibri" pitchFamily="34" charset="0"/>
                <a:ea typeface="Calibri" pitchFamily="34" charset="-122"/>
                <a:cs typeface="Calibri" pitchFamily="34" charset="-120"/>
              </a:rPr>
              <a:t>Synthesised analysis answering the four assignment questions</a:t>
            </a:r>
            <a:endParaRPr lang="en-US" sz="900" dirty="0"/>
          </a:p>
        </p:txBody>
      </p:sp>
      <p:sp>
        <p:nvSpPr>
          <p:cNvPr id="40" name="Shape 38"/>
          <p:cNvSpPr/>
          <p:nvPr/>
        </p:nvSpPr>
        <p:spPr>
          <a:xfrm>
            <a:off x="4754880" y="3895344"/>
            <a:ext cx="4206240" cy="914400"/>
          </a:xfrm>
          <a:prstGeom prst="rect">
            <a:avLst/>
          </a:prstGeom>
          <a:solidFill>
            <a:srgbClr val="1C2E44"/>
          </a:solidFill>
          <a:ln/>
          <a:effectLst>
            <a:outerShdw blurRad="101600" dist="38100" dir="8100000" algn="bl" rotWithShape="0">
              <a:srgbClr val="000000">
                <a:alpha val="20000"/>
              </a:srgbClr>
            </a:outerShdw>
          </a:effectLst>
        </p:spPr>
      </p:sp>
      <p:sp>
        <p:nvSpPr>
          <p:cNvPr id="41" name="Shape 39"/>
          <p:cNvSpPr/>
          <p:nvPr/>
        </p:nvSpPr>
        <p:spPr>
          <a:xfrm>
            <a:off x="4754880" y="3895344"/>
            <a:ext cx="502920" cy="914400"/>
          </a:xfrm>
          <a:prstGeom prst="rect">
            <a:avLst/>
          </a:prstGeom>
          <a:solidFill>
            <a:srgbClr val="1F6FBE"/>
          </a:solidFill>
          <a:ln/>
        </p:spPr>
      </p:sp>
      <p:sp>
        <p:nvSpPr>
          <p:cNvPr id="42" name="Text 40"/>
          <p:cNvSpPr/>
          <p:nvPr/>
        </p:nvSpPr>
        <p:spPr>
          <a:xfrm>
            <a:off x="4800600" y="4151376"/>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08</a:t>
            </a:r>
            <a:endParaRPr lang="en-US" sz="1800" dirty="0"/>
          </a:p>
        </p:txBody>
      </p:sp>
      <p:sp>
        <p:nvSpPr>
          <p:cNvPr id="43" name="Text 41"/>
          <p:cNvSpPr/>
          <p:nvPr/>
        </p:nvSpPr>
        <p:spPr>
          <a:xfrm>
            <a:off x="5349240" y="3968496"/>
            <a:ext cx="35204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Conclusion</a:t>
            </a:r>
            <a:endParaRPr lang="en-US" sz="1200" dirty="0"/>
          </a:p>
        </p:txBody>
      </p:sp>
      <p:sp>
        <p:nvSpPr>
          <p:cNvPr id="44" name="Text 42"/>
          <p:cNvSpPr/>
          <p:nvPr/>
        </p:nvSpPr>
        <p:spPr>
          <a:xfrm>
            <a:off x="5349240" y="4334256"/>
            <a:ext cx="3520440" cy="384048"/>
          </a:xfrm>
          <a:prstGeom prst="rect">
            <a:avLst/>
          </a:prstGeom>
          <a:noFill/>
          <a:ln/>
        </p:spPr>
        <p:txBody>
          <a:bodyPr wrap="square" lIns="0" tIns="0" rIns="0" bIns="0" rtlCol="0" anchor="ctr"/>
          <a:lstStyle/>
          <a:p>
            <a:pPr marL="0" indent="0">
              <a:buNone/>
            </a:pPr>
            <a:r>
              <a:rPr lang="en-US" sz="900" dirty="0">
                <a:solidFill>
                  <a:srgbClr val="A8C4D8"/>
                </a:solidFill>
                <a:latin typeface="Calibri" pitchFamily="34" charset="0"/>
                <a:ea typeface="Calibri" pitchFamily="34" charset="-122"/>
                <a:cs typeface="Calibri" pitchFamily="34" charset="-120"/>
              </a:rPr>
              <a:t>Summary findings and geographic significance</a:t>
            </a:r>
            <a:endParaRPr lang="en-US" sz="900" dirty="0"/>
          </a:p>
        </p:txBody>
      </p:sp>
      <p:sp>
        <p:nvSpPr>
          <p:cNvPr id="45" name="Shape 43"/>
          <p:cNvSpPr/>
          <p:nvPr/>
        </p:nvSpPr>
        <p:spPr>
          <a:xfrm>
            <a:off x="0" y="4892040"/>
            <a:ext cx="9144000" cy="251460"/>
          </a:xfrm>
          <a:prstGeom prst="rect">
            <a:avLst/>
          </a:prstGeom>
          <a:solidFill>
            <a:srgbClr val="0A1628"/>
          </a:solidFill>
          <a:ln/>
        </p:spPr>
      </p:sp>
      <p:sp>
        <p:nvSpPr>
          <p:cNvPr id="46" name="Text 44"/>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GIS Project Group  |  GIS Project — Strait of Hormuz  |  April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 — Introduction: Where is the Strait of Hormuz?</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Location Overview</a:t>
            </a:r>
            <a:endParaRPr lang="en-US" sz="1200" dirty="0"/>
          </a:p>
        </p:txBody>
      </p:sp>
      <p:pic>
        <p:nvPicPr>
          <p:cNvPr id="5" name="Image 0" descr="/home/claude/hormuz_pptx/region_map.png"/>
          <p:cNvPicPr>
            <a:picLocks noChangeAspect="1"/>
          </p:cNvPicPr>
          <p:nvPr/>
        </p:nvPicPr>
        <p:blipFill>
          <a:blip r:embed="rId3"/>
          <a:stretch>
            <a:fillRect/>
          </a:stretch>
        </p:blipFill>
        <p:spPr>
          <a:xfrm>
            <a:off x="256032" y="758952"/>
            <a:ext cx="5029200" cy="3291840"/>
          </a:xfrm>
          <a:prstGeom prst="rect">
            <a:avLst/>
          </a:prstGeom>
          <a:effectLst>
            <a:outerShdw blurRad="101600" dist="38100" dir="8100000" algn="bl" rotWithShape="0">
              <a:srgbClr val="000000">
                <a:alpha val="20000"/>
              </a:srgbClr>
            </a:outerShdw>
          </a:effectLst>
        </p:spPr>
      </p:pic>
      <p:sp>
        <p:nvSpPr>
          <p:cNvPr id="6" name="Shape 3"/>
          <p:cNvSpPr/>
          <p:nvPr/>
        </p:nvSpPr>
        <p:spPr>
          <a:xfrm>
            <a:off x="5577840" y="777240"/>
            <a:ext cx="3291840" cy="3291840"/>
          </a:xfrm>
          <a:prstGeom prst="rect">
            <a:avLst/>
          </a:prstGeom>
          <a:solidFill>
            <a:srgbClr val="1C2E44"/>
          </a:solidFill>
          <a:ln/>
          <a:effectLst>
            <a:outerShdw blurRad="101600" dist="38100" dir="8100000" algn="bl" rotWithShape="0">
              <a:srgbClr val="000000">
                <a:alpha val="20000"/>
              </a:srgbClr>
            </a:outerShdw>
          </a:effectLst>
        </p:spPr>
      </p:sp>
      <p:sp>
        <p:nvSpPr>
          <p:cNvPr id="7" name="Text 4"/>
          <p:cNvSpPr/>
          <p:nvPr/>
        </p:nvSpPr>
        <p:spPr>
          <a:xfrm>
            <a:off x="5669280" y="868680"/>
            <a:ext cx="3108960" cy="320040"/>
          </a:xfrm>
          <a:prstGeom prst="rect">
            <a:avLst/>
          </a:prstGeom>
          <a:noFill/>
          <a:ln/>
        </p:spPr>
        <p:txBody>
          <a:bodyPr wrap="square" lIns="0" tIns="0" rIns="0" bIns="0"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Key Geographic Facts</a:t>
            </a:r>
            <a:endParaRPr lang="en-US" sz="1300" dirty="0"/>
          </a:p>
        </p:txBody>
      </p:sp>
      <p:sp>
        <p:nvSpPr>
          <p:cNvPr id="8" name="Shape 5"/>
          <p:cNvSpPr/>
          <p:nvPr/>
        </p:nvSpPr>
        <p:spPr>
          <a:xfrm>
            <a:off x="5669280" y="1261872"/>
            <a:ext cx="73152" cy="228600"/>
          </a:xfrm>
          <a:prstGeom prst="rect">
            <a:avLst/>
          </a:prstGeom>
          <a:solidFill>
            <a:srgbClr val="E74C3C"/>
          </a:solidFill>
          <a:ln/>
        </p:spPr>
      </p:sp>
      <p:sp>
        <p:nvSpPr>
          <p:cNvPr id="9" name="Text 6"/>
          <p:cNvSpPr/>
          <p:nvPr/>
        </p:nvSpPr>
        <p:spPr>
          <a:xfrm>
            <a:off x="5833872" y="1252728"/>
            <a:ext cx="777240" cy="274320"/>
          </a:xfrm>
          <a:prstGeom prst="rect">
            <a:avLst/>
          </a:prstGeom>
          <a:noFill/>
          <a:ln/>
        </p:spPr>
        <p:txBody>
          <a:bodyPr wrap="square" lIns="0" tIns="0" rIns="0" bIns="0" rtlCol="0" anchor="ctr"/>
          <a:lstStyle/>
          <a:p>
            <a:pPr marL="0" indent="0">
              <a:buNone/>
            </a:pPr>
            <a:r>
              <a:rPr lang="en-US" sz="1000" b="1" dirty="0">
                <a:solidFill>
                  <a:srgbClr val="3498DB"/>
                </a:solidFill>
                <a:latin typeface="Calibri" pitchFamily="34" charset="0"/>
                <a:ea typeface="Calibri" pitchFamily="34" charset="-122"/>
                <a:cs typeface="Calibri" pitchFamily="34" charset="-120"/>
              </a:rPr>
              <a:t>Location: </a:t>
            </a:r>
            <a:endParaRPr lang="en-US" sz="1000" dirty="0"/>
          </a:p>
        </p:txBody>
      </p:sp>
      <p:sp>
        <p:nvSpPr>
          <p:cNvPr id="10" name="Text 7"/>
          <p:cNvSpPr/>
          <p:nvPr/>
        </p:nvSpPr>
        <p:spPr>
          <a:xfrm>
            <a:off x="6601968" y="1252728"/>
            <a:ext cx="2286000" cy="27432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Between Iran (north) and Oman/UAE (south)</a:t>
            </a:r>
            <a:endParaRPr lang="en-US" sz="1000" dirty="0"/>
          </a:p>
        </p:txBody>
      </p:sp>
      <p:sp>
        <p:nvSpPr>
          <p:cNvPr id="11" name="Shape 8"/>
          <p:cNvSpPr/>
          <p:nvPr/>
        </p:nvSpPr>
        <p:spPr>
          <a:xfrm>
            <a:off x="5669280" y="1609344"/>
            <a:ext cx="73152" cy="228600"/>
          </a:xfrm>
          <a:prstGeom prst="rect">
            <a:avLst/>
          </a:prstGeom>
          <a:solidFill>
            <a:srgbClr val="E74C3C"/>
          </a:solidFill>
          <a:ln/>
        </p:spPr>
      </p:sp>
      <p:sp>
        <p:nvSpPr>
          <p:cNvPr id="12" name="Text 9"/>
          <p:cNvSpPr/>
          <p:nvPr/>
        </p:nvSpPr>
        <p:spPr>
          <a:xfrm>
            <a:off x="5833872" y="1600200"/>
            <a:ext cx="777240" cy="274320"/>
          </a:xfrm>
          <a:prstGeom prst="rect">
            <a:avLst/>
          </a:prstGeom>
          <a:noFill/>
          <a:ln/>
        </p:spPr>
        <p:txBody>
          <a:bodyPr wrap="square" lIns="0" tIns="0" rIns="0" bIns="0" rtlCol="0" anchor="ctr"/>
          <a:lstStyle/>
          <a:p>
            <a:pPr marL="0" indent="0">
              <a:buNone/>
            </a:pPr>
            <a:r>
              <a:rPr lang="en-US" sz="1000" b="1" dirty="0">
                <a:solidFill>
                  <a:srgbClr val="3498DB"/>
                </a:solidFill>
                <a:latin typeface="Calibri" pitchFamily="34" charset="0"/>
                <a:ea typeface="Calibri" pitchFamily="34" charset="-122"/>
                <a:cs typeface="Calibri" pitchFamily="34" charset="-120"/>
              </a:rPr>
              <a:t>Width: </a:t>
            </a:r>
            <a:endParaRPr lang="en-US" sz="1000" dirty="0"/>
          </a:p>
        </p:txBody>
      </p:sp>
      <p:sp>
        <p:nvSpPr>
          <p:cNvPr id="13" name="Text 10"/>
          <p:cNvSpPr/>
          <p:nvPr/>
        </p:nvSpPr>
        <p:spPr>
          <a:xfrm>
            <a:off x="6601968" y="1600200"/>
            <a:ext cx="2286000" cy="27432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~33 km at narrowest point</a:t>
            </a:r>
            <a:endParaRPr lang="en-US" sz="1000" dirty="0"/>
          </a:p>
        </p:txBody>
      </p:sp>
      <p:sp>
        <p:nvSpPr>
          <p:cNvPr id="14" name="Shape 11"/>
          <p:cNvSpPr/>
          <p:nvPr/>
        </p:nvSpPr>
        <p:spPr>
          <a:xfrm>
            <a:off x="5669280" y="1956816"/>
            <a:ext cx="73152" cy="228600"/>
          </a:xfrm>
          <a:prstGeom prst="rect">
            <a:avLst/>
          </a:prstGeom>
          <a:solidFill>
            <a:srgbClr val="E74C3C"/>
          </a:solidFill>
          <a:ln/>
        </p:spPr>
      </p:sp>
      <p:sp>
        <p:nvSpPr>
          <p:cNvPr id="15" name="Text 12"/>
          <p:cNvSpPr/>
          <p:nvPr/>
        </p:nvSpPr>
        <p:spPr>
          <a:xfrm>
            <a:off x="5833872" y="1947672"/>
            <a:ext cx="777240" cy="274320"/>
          </a:xfrm>
          <a:prstGeom prst="rect">
            <a:avLst/>
          </a:prstGeom>
          <a:noFill/>
          <a:ln/>
        </p:spPr>
        <p:txBody>
          <a:bodyPr wrap="square" lIns="0" tIns="0" rIns="0" bIns="0" rtlCol="0" anchor="ctr"/>
          <a:lstStyle/>
          <a:p>
            <a:pPr marL="0" indent="0">
              <a:buNone/>
            </a:pPr>
            <a:r>
              <a:rPr lang="en-US" sz="1000" b="1" dirty="0">
                <a:solidFill>
                  <a:srgbClr val="3498DB"/>
                </a:solidFill>
                <a:latin typeface="Calibri" pitchFamily="34" charset="0"/>
                <a:ea typeface="Calibri" pitchFamily="34" charset="-122"/>
                <a:cs typeface="Calibri" pitchFamily="34" charset="-120"/>
              </a:rPr>
              <a:t>Channel: </a:t>
            </a:r>
            <a:endParaRPr lang="en-US" sz="1000" dirty="0"/>
          </a:p>
        </p:txBody>
      </p:sp>
      <p:sp>
        <p:nvSpPr>
          <p:cNvPr id="16" name="Text 13"/>
          <p:cNvSpPr/>
          <p:nvPr/>
        </p:nvSpPr>
        <p:spPr>
          <a:xfrm>
            <a:off x="6601968" y="1947672"/>
            <a:ext cx="2286000" cy="27432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~3 km navigable each direction</a:t>
            </a:r>
            <a:endParaRPr lang="en-US" sz="1000" dirty="0"/>
          </a:p>
        </p:txBody>
      </p:sp>
      <p:sp>
        <p:nvSpPr>
          <p:cNvPr id="17" name="Shape 14"/>
          <p:cNvSpPr/>
          <p:nvPr/>
        </p:nvSpPr>
        <p:spPr>
          <a:xfrm>
            <a:off x="5669280" y="2304288"/>
            <a:ext cx="73152" cy="228600"/>
          </a:xfrm>
          <a:prstGeom prst="rect">
            <a:avLst/>
          </a:prstGeom>
          <a:solidFill>
            <a:srgbClr val="E74C3C"/>
          </a:solidFill>
          <a:ln/>
        </p:spPr>
      </p:sp>
      <p:sp>
        <p:nvSpPr>
          <p:cNvPr id="18" name="Text 15"/>
          <p:cNvSpPr/>
          <p:nvPr/>
        </p:nvSpPr>
        <p:spPr>
          <a:xfrm>
            <a:off x="5833872" y="2295144"/>
            <a:ext cx="777240" cy="274320"/>
          </a:xfrm>
          <a:prstGeom prst="rect">
            <a:avLst/>
          </a:prstGeom>
          <a:noFill/>
          <a:ln/>
        </p:spPr>
        <p:txBody>
          <a:bodyPr wrap="square" lIns="0" tIns="0" rIns="0" bIns="0" rtlCol="0" anchor="ctr"/>
          <a:lstStyle/>
          <a:p>
            <a:pPr marL="0" indent="0">
              <a:buNone/>
            </a:pPr>
            <a:r>
              <a:rPr lang="en-US" sz="1000" b="1" dirty="0">
                <a:solidFill>
                  <a:srgbClr val="3498DB"/>
                </a:solidFill>
                <a:latin typeface="Calibri" pitchFamily="34" charset="0"/>
                <a:ea typeface="Calibri" pitchFamily="34" charset="-122"/>
                <a:cs typeface="Calibri" pitchFamily="34" charset="-120"/>
              </a:rPr>
              <a:t>Connects: </a:t>
            </a:r>
            <a:endParaRPr lang="en-US" sz="1000" dirty="0"/>
          </a:p>
        </p:txBody>
      </p:sp>
      <p:sp>
        <p:nvSpPr>
          <p:cNvPr id="19" name="Text 16"/>
          <p:cNvSpPr/>
          <p:nvPr/>
        </p:nvSpPr>
        <p:spPr>
          <a:xfrm>
            <a:off x="6601968" y="2295144"/>
            <a:ext cx="2286000" cy="27432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Persian Gulf → Gulf of Oman → Arabian Sea</a:t>
            </a:r>
            <a:endParaRPr lang="en-US" sz="1000" dirty="0"/>
          </a:p>
        </p:txBody>
      </p:sp>
      <p:sp>
        <p:nvSpPr>
          <p:cNvPr id="20" name="Shape 17"/>
          <p:cNvSpPr/>
          <p:nvPr/>
        </p:nvSpPr>
        <p:spPr>
          <a:xfrm>
            <a:off x="5669280" y="2651760"/>
            <a:ext cx="73152" cy="228600"/>
          </a:xfrm>
          <a:prstGeom prst="rect">
            <a:avLst/>
          </a:prstGeom>
          <a:solidFill>
            <a:srgbClr val="E74C3C"/>
          </a:solidFill>
          <a:ln/>
        </p:spPr>
      </p:sp>
      <p:sp>
        <p:nvSpPr>
          <p:cNvPr id="21" name="Text 18"/>
          <p:cNvSpPr/>
          <p:nvPr/>
        </p:nvSpPr>
        <p:spPr>
          <a:xfrm>
            <a:off x="5833872" y="2642616"/>
            <a:ext cx="777240" cy="274320"/>
          </a:xfrm>
          <a:prstGeom prst="rect">
            <a:avLst/>
          </a:prstGeom>
          <a:noFill/>
          <a:ln/>
        </p:spPr>
        <p:txBody>
          <a:bodyPr wrap="square" lIns="0" tIns="0" rIns="0" bIns="0" rtlCol="0" anchor="ctr"/>
          <a:lstStyle/>
          <a:p>
            <a:pPr marL="0" indent="0">
              <a:buNone/>
            </a:pPr>
            <a:r>
              <a:rPr lang="en-US" sz="1000" b="1" dirty="0">
                <a:solidFill>
                  <a:srgbClr val="3498DB"/>
                </a:solidFill>
                <a:latin typeface="Calibri" pitchFamily="34" charset="0"/>
                <a:ea typeface="Calibri" pitchFamily="34" charset="-122"/>
                <a:cs typeface="Calibri" pitchFamily="34" charset="-120"/>
              </a:rPr>
              <a:t>Countries: </a:t>
            </a:r>
            <a:endParaRPr lang="en-US" sz="1000" dirty="0"/>
          </a:p>
        </p:txBody>
      </p:sp>
      <p:sp>
        <p:nvSpPr>
          <p:cNvPr id="22" name="Text 19"/>
          <p:cNvSpPr/>
          <p:nvPr/>
        </p:nvSpPr>
        <p:spPr>
          <a:xfrm>
            <a:off x="6601968" y="2642616"/>
            <a:ext cx="2286000" cy="27432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Iran, Oman, UAE share the strait</a:t>
            </a:r>
            <a:endParaRPr lang="en-US" sz="1000" dirty="0"/>
          </a:p>
        </p:txBody>
      </p:sp>
      <p:sp>
        <p:nvSpPr>
          <p:cNvPr id="23" name="Shape 20"/>
          <p:cNvSpPr/>
          <p:nvPr/>
        </p:nvSpPr>
        <p:spPr>
          <a:xfrm>
            <a:off x="5669280" y="2999232"/>
            <a:ext cx="73152" cy="228600"/>
          </a:xfrm>
          <a:prstGeom prst="rect">
            <a:avLst/>
          </a:prstGeom>
          <a:solidFill>
            <a:srgbClr val="E74C3C"/>
          </a:solidFill>
          <a:ln/>
        </p:spPr>
      </p:sp>
      <p:sp>
        <p:nvSpPr>
          <p:cNvPr id="24" name="Text 21"/>
          <p:cNvSpPr/>
          <p:nvPr/>
        </p:nvSpPr>
        <p:spPr>
          <a:xfrm>
            <a:off x="5833872" y="2990088"/>
            <a:ext cx="777240" cy="274320"/>
          </a:xfrm>
          <a:prstGeom prst="rect">
            <a:avLst/>
          </a:prstGeom>
          <a:noFill/>
          <a:ln/>
        </p:spPr>
        <p:txBody>
          <a:bodyPr wrap="square" lIns="0" tIns="0" rIns="0" bIns="0" rtlCol="0" anchor="ctr"/>
          <a:lstStyle/>
          <a:p>
            <a:pPr marL="0" indent="0">
              <a:buNone/>
            </a:pPr>
            <a:r>
              <a:rPr lang="en-US" sz="1000" b="1" dirty="0">
                <a:solidFill>
                  <a:srgbClr val="3498DB"/>
                </a:solidFill>
                <a:latin typeface="Calibri" pitchFamily="34" charset="0"/>
                <a:ea typeface="Calibri" pitchFamily="34" charset="-122"/>
                <a:cs typeface="Calibri" pitchFamily="34" charset="-120"/>
              </a:rPr>
              <a:t>Importance: </a:t>
            </a:r>
            <a:endParaRPr lang="en-US" sz="1000" dirty="0"/>
          </a:p>
        </p:txBody>
      </p:sp>
      <p:sp>
        <p:nvSpPr>
          <p:cNvPr id="25" name="Text 22"/>
          <p:cNvSpPr/>
          <p:nvPr/>
        </p:nvSpPr>
        <p:spPr>
          <a:xfrm>
            <a:off x="6601968" y="2990088"/>
            <a:ext cx="2286000" cy="27432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Only exit from the Persian Gulf</a:t>
            </a:r>
            <a:endParaRPr lang="en-US" sz="1000" dirty="0"/>
          </a:p>
        </p:txBody>
      </p:sp>
      <p:sp>
        <p:nvSpPr>
          <p:cNvPr id="26" name="Shape 23"/>
          <p:cNvSpPr/>
          <p:nvPr/>
        </p:nvSpPr>
        <p:spPr>
          <a:xfrm>
            <a:off x="274320" y="4160520"/>
            <a:ext cx="8595360" cy="594360"/>
          </a:xfrm>
          <a:prstGeom prst="rect">
            <a:avLst/>
          </a:prstGeom>
          <a:solidFill>
            <a:srgbClr val="1A3A5C"/>
          </a:solidFill>
          <a:ln/>
        </p:spPr>
      </p:sp>
      <p:sp>
        <p:nvSpPr>
          <p:cNvPr id="27" name="Text 24"/>
          <p:cNvSpPr/>
          <p:nvPr/>
        </p:nvSpPr>
        <p:spPr>
          <a:xfrm>
            <a:off x="457200" y="4206240"/>
            <a:ext cx="8229600" cy="502920"/>
          </a:xfrm>
          <a:prstGeom prst="rect">
            <a:avLst/>
          </a:prstGeom>
          <a:noFill/>
          <a:ln/>
        </p:spPr>
        <p:txBody>
          <a:bodyPr wrap="square" lIns="0" tIns="0" rIns="0" bIns="0" rtlCol="0" anchor="ctr"/>
          <a:lstStyle/>
          <a:p>
            <a:pPr marL="0" indent="0">
              <a:buNone/>
            </a:pPr>
            <a:r>
              <a:rPr lang="en-US" sz="1050" i="1" dirty="0">
                <a:solidFill>
                  <a:srgbClr val="D6E4F0"/>
                </a:solidFill>
                <a:latin typeface="Calibri" pitchFamily="34" charset="0"/>
                <a:ea typeface="Calibri" pitchFamily="34" charset="-122"/>
                <a:cs typeface="Calibri" pitchFamily="34" charset="-120"/>
              </a:rPr>
              <a:t>The Strait of Hormuz is a narrow waterway that serves as the sole maritime exit for all Persian Gulf nations. Its geographic position makes it one of the most critical locations on Earth for global energy supply.</a:t>
            </a:r>
            <a:endParaRPr lang="en-US" sz="1050" dirty="0"/>
          </a:p>
        </p:txBody>
      </p:sp>
      <p:sp>
        <p:nvSpPr>
          <p:cNvPr id="28" name="Shape 25"/>
          <p:cNvSpPr/>
          <p:nvPr/>
        </p:nvSpPr>
        <p:spPr>
          <a:xfrm>
            <a:off x="0" y="4892040"/>
            <a:ext cx="9144000" cy="251460"/>
          </a:xfrm>
          <a:prstGeom prst="rect">
            <a:avLst/>
          </a:prstGeom>
          <a:solidFill>
            <a:srgbClr val="0A1628"/>
          </a:solidFill>
          <a:ln/>
        </p:spPr>
      </p:sp>
      <p:sp>
        <p:nvSpPr>
          <p:cNvPr id="29" name="Text 26"/>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Natural Earth, DIVA-GIS  |  GIS Project — Strait of Hormuz  |  April 2026</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01 — Key Statistics at a Glance</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Why This Strait Matters</a:t>
            </a:r>
            <a:endParaRPr lang="en-US" sz="1200" dirty="0"/>
          </a:p>
        </p:txBody>
      </p:sp>
      <p:pic>
        <p:nvPicPr>
          <p:cNvPr id="5" name="Image 0" descr="/home/claude/hormuz_pptx/key_facts.png"/>
          <p:cNvPicPr>
            <a:picLocks noChangeAspect="1"/>
          </p:cNvPicPr>
          <p:nvPr/>
        </p:nvPicPr>
        <p:blipFill>
          <a:blip r:embed="rId3"/>
          <a:stretch>
            <a:fillRect/>
          </a:stretch>
        </p:blipFill>
        <p:spPr>
          <a:xfrm>
            <a:off x="274320" y="777240"/>
            <a:ext cx="8595360" cy="2377440"/>
          </a:xfrm>
          <a:prstGeom prst="rect">
            <a:avLst/>
          </a:prstGeom>
          <a:effectLst>
            <a:outerShdw blurRad="101600" dist="38100" dir="8100000" algn="bl" rotWithShape="0">
              <a:srgbClr val="000000">
                <a:alpha val="20000"/>
              </a:srgbClr>
            </a:outerShdw>
          </a:effectLst>
        </p:spPr>
      </p:pic>
      <p:pic>
        <p:nvPicPr>
          <p:cNvPr id="6" name="Image 1" descr="/home/claude/hormuz_pptx/oil_chart.png"/>
          <p:cNvPicPr>
            <a:picLocks noChangeAspect="1"/>
          </p:cNvPicPr>
          <p:nvPr/>
        </p:nvPicPr>
        <p:blipFill>
          <a:blip r:embed="rId4"/>
          <a:stretch>
            <a:fillRect/>
          </a:stretch>
        </p:blipFill>
        <p:spPr>
          <a:xfrm>
            <a:off x="274320" y="3033486"/>
            <a:ext cx="8595360" cy="1721394"/>
          </a:xfrm>
          <a:prstGeom prst="rect">
            <a:avLst/>
          </a:prstGeom>
          <a:effectLst>
            <a:outerShdw blurRad="101600" dist="38100" dir="8100000" algn="bl" rotWithShape="0">
              <a:srgbClr val="000000">
                <a:alpha val="20000"/>
              </a:srgbClr>
            </a:outerShdw>
          </a:effectLst>
        </p:spPr>
      </p:pic>
      <p:sp>
        <p:nvSpPr>
          <p:cNvPr id="7" name="Shape 3"/>
          <p:cNvSpPr/>
          <p:nvPr/>
        </p:nvSpPr>
        <p:spPr>
          <a:xfrm>
            <a:off x="0" y="4892040"/>
            <a:ext cx="9144000" cy="251460"/>
          </a:xfrm>
          <a:prstGeom prst="rect">
            <a:avLst/>
          </a:prstGeom>
          <a:solidFill>
            <a:srgbClr val="0A1628"/>
          </a:solidFill>
          <a:ln/>
        </p:spPr>
      </p:sp>
      <p:sp>
        <p:nvSpPr>
          <p:cNvPr id="8" name="Text 4"/>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U.S. Energy Information Administration (EIA), 2023  |  GIS Project — Strait of Hormuz  |  April 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02 — Data Sources &amp; GIS Methodology</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How We Built the Maps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274320" y="777240"/>
          <a:ext cx="5303520" cy="3224784"/>
        </p:xfrm>
        <a:graphic>
          <a:graphicData uri="http://schemas.openxmlformats.org/drawingml/2006/table">
            <a:tbl>
              <a:tblPr/>
              <a:tblGrid>
                <a:gridCol w="15544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4747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Data Layer</a:t>
                      </a:r>
                      <a:endParaRPr lang="en-US" sz="11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A3A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A3A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Format</a:t>
                      </a:r>
                      <a:endParaRPr lang="en-US" sz="11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A3A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Used In Map</a:t>
                      </a:r>
                      <a:endParaRPr lang="en-US" sz="11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347472">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Country Boundaries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Natural Earth</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.shp Shapefile</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Map 1 — Political</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extLst>
                  <a:ext uri="{0D108BD9-81ED-4DB2-BD59-A6C34878D82A}">
                    <a16:rowId xmlns:a16="http://schemas.microsoft.com/office/drawing/2014/main" val="10001"/>
                  </a:ext>
                </a:extLst>
              </a:tr>
              <a:tr h="347472">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Coastlines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DIVA-GIS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.shp Shapefile</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Maps 1, 2, 3</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extLst>
                  <a:ext uri="{0D108BD9-81ED-4DB2-BD59-A6C34878D82A}">
                    <a16:rowId xmlns:a16="http://schemas.microsoft.com/office/drawing/2014/main" val="10002"/>
                  </a:ext>
                </a:extLst>
              </a:tr>
              <a:tr h="347472">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Rivers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DIVA-GIS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.shp Shapefile</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Map 1 — Political</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extLst>
                  <a:ext uri="{0D108BD9-81ED-4DB2-BD59-A6C34878D82A}">
                    <a16:rowId xmlns:a16="http://schemas.microsoft.com/office/drawing/2014/main" val="10003"/>
                  </a:ext>
                </a:extLst>
              </a:tr>
              <a:tr h="347472">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Ports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DIVA-GIS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.shp Shapefile</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Map 3 — Shipping</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extLst>
                  <a:ext uri="{0D108BD9-81ED-4DB2-BD59-A6C34878D82A}">
                    <a16:rowId xmlns:a16="http://schemas.microsoft.com/office/drawing/2014/main" val="10004"/>
                  </a:ext>
                </a:extLst>
              </a:tr>
              <a:tr h="347472">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Oil &amp; Gas Fields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Global Energy Monitor</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.csv → Points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Map 2 — Resource</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extLst>
                  <a:ext uri="{0D108BD9-81ED-4DB2-BD59-A6C34878D82A}">
                    <a16:rowId xmlns:a16="http://schemas.microsoft.com/office/drawing/2014/main" val="10005"/>
                  </a:ext>
                </a:extLst>
              </a:tr>
              <a:tr h="347472">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Population Density</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DIVA-GIS (Iran+Oman)</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.tif Raster</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Map 4 — Population</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extLst>
                  <a:ext uri="{0D108BD9-81ED-4DB2-BD59-A6C34878D82A}">
                    <a16:rowId xmlns:a16="http://schemas.microsoft.com/office/drawing/2014/main" val="10006"/>
                  </a:ext>
                </a:extLst>
              </a:tr>
              <a:tr h="347472">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Elevation / Terrain</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DIVA-GIS (Iran+Oman)</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.tif Raster</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Map 4 — Population</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extLst>
                  <a:ext uri="{0D108BD9-81ED-4DB2-BD59-A6C34878D82A}">
                    <a16:rowId xmlns:a16="http://schemas.microsoft.com/office/drawing/2014/main" val="10007"/>
                  </a:ext>
                </a:extLst>
              </a:tr>
              <a:tr h="347472">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Shipping Lanes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Digitized in QGIS</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Line Feature</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tc>
                  <a:txBody>
                    <a:bodyPr/>
                    <a:lstStyle/>
                    <a:p>
                      <a:pPr marL="0" indent="0">
                        <a:buNone/>
                      </a:pPr>
                      <a:r>
                        <a:rPr lang="en-US" sz="1000" dirty="0">
                          <a:solidFill>
                            <a:srgbClr val="D6E4F0"/>
                          </a:solidFill>
                          <a:latin typeface="Calibri" pitchFamily="34" charset="0"/>
                          <a:ea typeface="Calibri" pitchFamily="34" charset="-122"/>
                          <a:cs typeface="Calibri" pitchFamily="34" charset="-120"/>
                        </a:rPr>
                        <a:t>Map 3 — Shipping</a:t>
                      </a:r>
                      <a:endParaRPr lang="en-US" sz="1000" dirty="0">
                        <a:latin typeface="Calibri" charset="0"/>
                        <a:ea typeface="Calibri" charset="0"/>
                        <a:cs typeface="Calibri" charset="0"/>
                      </a:endParaRPr>
                    </a:p>
                  </a:txBody>
                  <a:tcPr>
                    <a:lnL w="6350" cap="flat" cmpd="sng" algn="ctr">
                      <a:solidFill>
                        <a:srgbClr val="1A3A5C"/>
                      </a:solidFill>
                      <a:prstDash val="solid"/>
                      <a:round/>
                      <a:headEnd type="none" w="med" len="med"/>
                      <a:tailEnd type="none" w="med" len="med"/>
                    </a:lnL>
                    <a:lnR w="6350" cap="flat" cmpd="sng" algn="ctr">
                      <a:solidFill>
                        <a:srgbClr val="1A3A5C"/>
                      </a:solidFill>
                      <a:prstDash val="solid"/>
                      <a:round/>
                      <a:headEnd type="none" w="med" len="med"/>
                      <a:tailEnd type="none" w="med" len="med"/>
                    </a:lnR>
                    <a:lnT w="6350" cap="flat" cmpd="sng" algn="ctr">
                      <a:solidFill>
                        <a:srgbClr val="1A3A5C"/>
                      </a:solidFill>
                      <a:prstDash val="solid"/>
                      <a:round/>
                      <a:headEnd type="none" w="med" len="med"/>
                      <a:tailEnd type="none" w="med" len="med"/>
                    </a:lnT>
                    <a:lnB w="6350" cap="flat" cmpd="sng" algn="ctr">
                      <a:solidFill>
                        <a:srgbClr val="1A3A5C"/>
                      </a:solidFill>
                      <a:prstDash val="solid"/>
                      <a:round/>
                      <a:headEnd type="none" w="med" len="med"/>
                      <a:tailEnd type="none" w="med" len="med"/>
                    </a:lnB>
                    <a:solidFill>
                      <a:srgbClr val="1C2E44"/>
                    </a:solidFill>
                  </a:tcPr>
                </a:tc>
                <a:extLst>
                  <a:ext uri="{0D108BD9-81ED-4DB2-BD59-A6C34878D82A}">
                    <a16:rowId xmlns:a16="http://schemas.microsoft.com/office/drawing/2014/main" val="10008"/>
                  </a:ext>
                </a:extLst>
              </a:tr>
            </a:tbl>
          </a:graphicData>
        </a:graphic>
      </p:graphicFrame>
      <p:sp>
        <p:nvSpPr>
          <p:cNvPr id="5" name="Shape 3"/>
          <p:cNvSpPr/>
          <p:nvPr/>
        </p:nvSpPr>
        <p:spPr>
          <a:xfrm>
            <a:off x="5760720" y="777240"/>
            <a:ext cx="3108960" cy="3474720"/>
          </a:xfrm>
          <a:prstGeom prst="rect">
            <a:avLst/>
          </a:prstGeom>
          <a:solidFill>
            <a:srgbClr val="1C2E44"/>
          </a:solidFill>
          <a:ln/>
          <a:effectLst>
            <a:outerShdw blurRad="101600" dist="38100" dir="8100000" algn="bl" rotWithShape="0">
              <a:srgbClr val="000000">
                <a:alpha val="20000"/>
              </a:srgbClr>
            </a:outerShdw>
          </a:effectLst>
        </p:spPr>
      </p:sp>
      <p:sp>
        <p:nvSpPr>
          <p:cNvPr id="7" name="Text 4"/>
          <p:cNvSpPr/>
          <p:nvPr/>
        </p:nvSpPr>
        <p:spPr>
          <a:xfrm>
            <a:off x="5897880" y="868680"/>
            <a:ext cx="2834640" cy="320040"/>
          </a:xfrm>
          <a:prstGeom prst="rect">
            <a:avLst/>
          </a:prstGeom>
          <a:noFill/>
          <a:ln/>
        </p:spPr>
        <p:txBody>
          <a:bodyPr wrap="square" lIns="0" tIns="0" rIns="0" bIns="0"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QGIS Workflow</a:t>
            </a:r>
            <a:endParaRPr lang="en-US" sz="1300" dirty="0"/>
          </a:p>
        </p:txBody>
      </p:sp>
      <p:sp>
        <p:nvSpPr>
          <p:cNvPr id="8" name="Shape 5"/>
          <p:cNvSpPr/>
          <p:nvPr/>
        </p:nvSpPr>
        <p:spPr>
          <a:xfrm>
            <a:off x="5897880" y="1280160"/>
            <a:ext cx="228600" cy="201168"/>
          </a:xfrm>
          <a:prstGeom prst="rect">
            <a:avLst/>
          </a:prstGeom>
          <a:solidFill>
            <a:srgbClr val="3498DB"/>
          </a:solidFill>
          <a:ln/>
        </p:spPr>
      </p:sp>
      <p:sp>
        <p:nvSpPr>
          <p:cNvPr id="9" name="Text 6"/>
          <p:cNvSpPr/>
          <p:nvPr/>
        </p:nvSpPr>
        <p:spPr>
          <a:xfrm>
            <a:off x="5907024" y="1280160"/>
            <a:ext cx="21031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0" name="Text 7"/>
          <p:cNvSpPr/>
          <p:nvPr/>
        </p:nvSpPr>
        <p:spPr>
          <a:xfrm>
            <a:off x="6199632" y="1289304"/>
            <a:ext cx="2606040" cy="20116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Set CRS to EPSG:4326 (WGS 84)</a:t>
            </a:r>
            <a:endParaRPr lang="en-US" sz="950" dirty="0"/>
          </a:p>
        </p:txBody>
      </p:sp>
      <p:sp>
        <p:nvSpPr>
          <p:cNvPr id="11" name="Shape 8"/>
          <p:cNvSpPr/>
          <p:nvPr/>
        </p:nvSpPr>
        <p:spPr>
          <a:xfrm>
            <a:off x="5897880" y="1536192"/>
            <a:ext cx="228600" cy="201168"/>
          </a:xfrm>
          <a:prstGeom prst="rect">
            <a:avLst/>
          </a:prstGeom>
          <a:solidFill>
            <a:srgbClr val="3498DB"/>
          </a:solidFill>
          <a:ln/>
        </p:spPr>
      </p:sp>
      <p:sp>
        <p:nvSpPr>
          <p:cNvPr id="12" name="Text 9"/>
          <p:cNvSpPr/>
          <p:nvPr/>
        </p:nvSpPr>
        <p:spPr>
          <a:xfrm>
            <a:off x="5907024" y="1536192"/>
            <a:ext cx="21031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3" name="Text 10"/>
          <p:cNvSpPr/>
          <p:nvPr/>
        </p:nvSpPr>
        <p:spPr>
          <a:xfrm>
            <a:off x="6199632" y="1545336"/>
            <a:ext cx="2606040" cy="20116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Load all shapefiles + rasters</a:t>
            </a:r>
            <a:endParaRPr lang="en-US" sz="950" dirty="0"/>
          </a:p>
        </p:txBody>
      </p:sp>
      <p:sp>
        <p:nvSpPr>
          <p:cNvPr id="14" name="Shape 11"/>
          <p:cNvSpPr/>
          <p:nvPr/>
        </p:nvSpPr>
        <p:spPr>
          <a:xfrm>
            <a:off x="5897880" y="1792224"/>
            <a:ext cx="228600" cy="201168"/>
          </a:xfrm>
          <a:prstGeom prst="rect">
            <a:avLst/>
          </a:prstGeom>
          <a:solidFill>
            <a:srgbClr val="3498DB"/>
          </a:solidFill>
          <a:ln/>
        </p:spPr>
      </p:sp>
      <p:sp>
        <p:nvSpPr>
          <p:cNvPr id="15" name="Text 12"/>
          <p:cNvSpPr/>
          <p:nvPr/>
        </p:nvSpPr>
        <p:spPr>
          <a:xfrm>
            <a:off x="5907024" y="1792224"/>
            <a:ext cx="21031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6" name="Text 13"/>
          <p:cNvSpPr/>
          <p:nvPr/>
        </p:nvSpPr>
        <p:spPr>
          <a:xfrm>
            <a:off x="6199632" y="1801368"/>
            <a:ext cx="2606040" cy="20116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Zoom to Strait region</a:t>
            </a:r>
            <a:endParaRPr lang="en-US" sz="950" dirty="0"/>
          </a:p>
        </p:txBody>
      </p:sp>
      <p:sp>
        <p:nvSpPr>
          <p:cNvPr id="17" name="Shape 14"/>
          <p:cNvSpPr/>
          <p:nvPr/>
        </p:nvSpPr>
        <p:spPr>
          <a:xfrm>
            <a:off x="5897880" y="2048256"/>
            <a:ext cx="228600" cy="201168"/>
          </a:xfrm>
          <a:prstGeom prst="rect">
            <a:avLst/>
          </a:prstGeom>
          <a:solidFill>
            <a:srgbClr val="3498DB"/>
          </a:solidFill>
          <a:ln/>
        </p:spPr>
      </p:sp>
      <p:sp>
        <p:nvSpPr>
          <p:cNvPr id="18" name="Text 15"/>
          <p:cNvSpPr/>
          <p:nvPr/>
        </p:nvSpPr>
        <p:spPr>
          <a:xfrm>
            <a:off x="5907024" y="2048256"/>
            <a:ext cx="21031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9" name="Text 16"/>
          <p:cNvSpPr/>
          <p:nvPr/>
        </p:nvSpPr>
        <p:spPr>
          <a:xfrm>
            <a:off x="6199632" y="2057400"/>
            <a:ext cx="2606040" cy="20116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Style each layer (symbology)</a:t>
            </a:r>
            <a:endParaRPr lang="en-US" sz="950" dirty="0"/>
          </a:p>
        </p:txBody>
      </p:sp>
      <p:sp>
        <p:nvSpPr>
          <p:cNvPr id="20" name="Shape 17"/>
          <p:cNvSpPr/>
          <p:nvPr/>
        </p:nvSpPr>
        <p:spPr>
          <a:xfrm>
            <a:off x="5897880" y="2304288"/>
            <a:ext cx="228600" cy="201168"/>
          </a:xfrm>
          <a:prstGeom prst="rect">
            <a:avLst/>
          </a:prstGeom>
          <a:solidFill>
            <a:srgbClr val="3498DB"/>
          </a:solidFill>
          <a:ln/>
        </p:spPr>
      </p:sp>
      <p:sp>
        <p:nvSpPr>
          <p:cNvPr id="21" name="Text 18"/>
          <p:cNvSpPr/>
          <p:nvPr/>
        </p:nvSpPr>
        <p:spPr>
          <a:xfrm>
            <a:off x="5907024" y="2304288"/>
            <a:ext cx="21031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2" name="Text 19"/>
          <p:cNvSpPr/>
          <p:nvPr/>
        </p:nvSpPr>
        <p:spPr>
          <a:xfrm>
            <a:off x="6199632" y="2313432"/>
            <a:ext cx="2606040" cy="20116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Merge Iran+Oman rasters</a:t>
            </a:r>
            <a:endParaRPr lang="en-US" sz="950" dirty="0"/>
          </a:p>
        </p:txBody>
      </p:sp>
      <p:sp>
        <p:nvSpPr>
          <p:cNvPr id="23" name="Shape 20"/>
          <p:cNvSpPr/>
          <p:nvPr/>
        </p:nvSpPr>
        <p:spPr>
          <a:xfrm>
            <a:off x="5897880" y="2560320"/>
            <a:ext cx="228600" cy="201168"/>
          </a:xfrm>
          <a:prstGeom prst="rect">
            <a:avLst/>
          </a:prstGeom>
          <a:solidFill>
            <a:srgbClr val="3498DB"/>
          </a:solidFill>
          <a:ln/>
        </p:spPr>
      </p:sp>
      <p:sp>
        <p:nvSpPr>
          <p:cNvPr id="24" name="Text 21"/>
          <p:cNvSpPr/>
          <p:nvPr/>
        </p:nvSpPr>
        <p:spPr>
          <a:xfrm>
            <a:off x="5907024" y="2560320"/>
            <a:ext cx="21031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25" name="Text 22"/>
          <p:cNvSpPr/>
          <p:nvPr/>
        </p:nvSpPr>
        <p:spPr>
          <a:xfrm>
            <a:off x="6199632" y="2569464"/>
            <a:ext cx="2606040" cy="20116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Create Print Layout per map</a:t>
            </a:r>
            <a:endParaRPr lang="en-US" sz="950" dirty="0"/>
          </a:p>
        </p:txBody>
      </p:sp>
      <p:sp>
        <p:nvSpPr>
          <p:cNvPr id="26" name="Shape 23"/>
          <p:cNvSpPr/>
          <p:nvPr/>
        </p:nvSpPr>
        <p:spPr>
          <a:xfrm>
            <a:off x="5897880" y="2816352"/>
            <a:ext cx="228600" cy="201168"/>
          </a:xfrm>
          <a:prstGeom prst="rect">
            <a:avLst/>
          </a:prstGeom>
          <a:solidFill>
            <a:srgbClr val="3498DB"/>
          </a:solidFill>
          <a:ln/>
        </p:spPr>
      </p:sp>
      <p:sp>
        <p:nvSpPr>
          <p:cNvPr id="27" name="Text 24"/>
          <p:cNvSpPr/>
          <p:nvPr/>
        </p:nvSpPr>
        <p:spPr>
          <a:xfrm>
            <a:off x="5907024" y="2816352"/>
            <a:ext cx="21031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28" name="Text 25"/>
          <p:cNvSpPr/>
          <p:nvPr/>
        </p:nvSpPr>
        <p:spPr>
          <a:xfrm>
            <a:off x="6199632" y="2825496"/>
            <a:ext cx="2606040" cy="20116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Add title, scale bar, north arrow, legend</a:t>
            </a:r>
            <a:endParaRPr lang="en-US" sz="950" dirty="0"/>
          </a:p>
        </p:txBody>
      </p:sp>
      <p:sp>
        <p:nvSpPr>
          <p:cNvPr id="29" name="Shape 26"/>
          <p:cNvSpPr/>
          <p:nvPr/>
        </p:nvSpPr>
        <p:spPr>
          <a:xfrm>
            <a:off x="5897880" y="3072384"/>
            <a:ext cx="228600" cy="201168"/>
          </a:xfrm>
          <a:prstGeom prst="rect">
            <a:avLst/>
          </a:prstGeom>
          <a:solidFill>
            <a:srgbClr val="3498DB"/>
          </a:solidFill>
          <a:ln/>
        </p:spPr>
      </p:sp>
      <p:sp>
        <p:nvSpPr>
          <p:cNvPr id="30" name="Text 27"/>
          <p:cNvSpPr/>
          <p:nvPr/>
        </p:nvSpPr>
        <p:spPr>
          <a:xfrm>
            <a:off x="5907024" y="3072384"/>
            <a:ext cx="210312"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31" name="Text 28"/>
          <p:cNvSpPr/>
          <p:nvPr/>
        </p:nvSpPr>
        <p:spPr>
          <a:xfrm>
            <a:off x="6199632" y="3081528"/>
            <a:ext cx="2606040" cy="20116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Export each map at 300 DPI</a:t>
            </a:r>
            <a:endParaRPr lang="en-US" sz="950" dirty="0"/>
          </a:p>
        </p:txBody>
      </p:sp>
      <p:sp>
        <p:nvSpPr>
          <p:cNvPr id="32" name="Shape 29"/>
          <p:cNvSpPr/>
          <p:nvPr/>
        </p:nvSpPr>
        <p:spPr>
          <a:xfrm>
            <a:off x="274320" y="4343400"/>
            <a:ext cx="8595360" cy="384048"/>
          </a:xfrm>
          <a:prstGeom prst="rect">
            <a:avLst/>
          </a:prstGeom>
          <a:solidFill>
            <a:srgbClr val="1A3A5C"/>
          </a:solidFill>
          <a:ln/>
        </p:spPr>
      </p:sp>
      <p:sp>
        <p:nvSpPr>
          <p:cNvPr id="33" name="Text 30"/>
          <p:cNvSpPr/>
          <p:nvPr/>
        </p:nvSpPr>
        <p:spPr>
          <a:xfrm>
            <a:off x="457200" y="4370832"/>
            <a:ext cx="8229600" cy="320040"/>
          </a:xfrm>
          <a:prstGeom prst="rect">
            <a:avLst/>
          </a:prstGeom>
          <a:noFill/>
          <a:ln/>
        </p:spPr>
        <p:txBody>
          <a:bodyPr wrap="square" lIns="0" tIns="0" rIns="0" bIns="0" rtlCol="0" anchor="ctr"/>
          <a:lstStyle/>
          <a:p>
            <a:pPr marL="0" indent="0" algn="ctr">
              <a:buNone/>
            </a:pPr>
            <a:r>
              <a:rPr lang="en-US" sz="1000" dirty="0">
                <a:solidFill>
                  <a:srgbClr val="F0A500"/>
                </a:solidFill>
                <a:latin typeface="Calibri" pitchFamily="34" charset="0"/>
                <a:ea typeface="Calibri" pitchFamily="34" charset="-122"/>
                <a:cs typeface="Calibri" pitchFamily="34" charset="-120"/>
              </a:rPr>
              <a:t>Software: QGIS 3.x (Open Source)  |  Coordinate Reference System: EPSG:4326 WGS 84  |  Export resolution: 300 DPI</a:t>
            </a:r>
            <a:endParaRPr lang="en-US" sz="1000" dirty="0"/>
          </a:p>
        </p:txBody>
      </p:sp>
      <p:sp>
        <p:nvSpPr>
          <p:cNvPr id="34" name="Shape 31"/>
          <p:cNvSpPr/>
          <p:nvPr/>
        </p:nvSpPr>
        <p:spPr>
          <a:xfrm>
            <a:off x="0" y="4892040"/>
            <a:ext cx="9144000" cy="251460"/>
          </a:xfrm>
          <a:prstGeom prst="rect">
            <a:avLst/>
          </a:prstGeom>
          <a:solidFill>
            <a:srgbClr val="0A1628"/>
          </a:solidFill>
          <a:ln/>
        </p:spPr>
      </p:sp>
      <p:sp>
        <p:nvSpPr>
          <p:cNvPr id="35" name="Text 32"/>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Natural Earth | DIVA-GIS | Global Energy Monitor  |  GIS Project — Strait of Hormuz  |  April 2026</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Political Map: Country Borders &amp; Control</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Map 1 Analysis</a:t>
            </a:r>
            <a:endParaRPr lang="en-US" sz="1200" dirty="0"/>
          </a:p>
        </p:txBody>
      </p:sp>
      <p:sp>
        <p:nvSpPr>
          <p:cNvPr id="5" name="Shape 3"/>
          <p:cNvSpPr/>
          <p:nvPr/>
        </p:nvSpPr>
        <p:spPr>
          <a:xfrm>
            <a:off x="274320" y="777240"/>
            <a:ext cx="5303520" cy="3520440"/>
          </a:xfrm>
          <a:prstGeom prst="rect">
            <a:avLst/>
          </a:prstGeom>
          <a:solidFill>
            <a:srgbClr val="1C2E44"/>
          </a:solidFill>
          <a:ln/>
          <a:effectLst>
            <a:outerShdw blurRad="101600" dist="38100" dir="8100000" algn="bl" rotWithShape="0">
              <a:srgbClr val="000000">
                <a:alpha val="20000"/>
              </a:srgbClr>
            </a:outerShdw>
          </a:effectLst>
        </p:spPr>
      </p:sp>
      <p:sp>
        <p:nvSpPr>
          <p:cNvPr id="8" name="Text 6"/>
          <p:cNvSpPr/>
          <p:nvPr/>
        </p:nvSpPr>
        <p:spPr>
          <a:xfrm>
            <a:off x="274320" y="4543780"/>
            <a:ext cx="5303520" cy="182880"/>
          </a:xfrm>
          <a:prstGeom prst="rect">
            <a:avLst/>
          </a:prstGeom>
          <a:noFill/>
          <a:ln/>
        </p:spPr>
        <p:txBody>
          <a:bodyPr wrap="square" lIns="0" tIns="0" rIns="0" bIns="0" rtlCol="0" anchor="ctr"/>
          <a:lstStyle/>
          <a:p>
            <a:pPr marL="0" indent="0" algn="ctr">
              <a:buNone/>
            </a:pPr>
            <a:r>
              <a:rPr lang="en-US" sz="900" dirty="0">
                <a:solidFill>
                  <a:srgbClr val="8BAFC9"/>
                </a:solidFill>
                <a:latin typeface="Calibri" pitchFamily="34" charset="0"/>
                <a:ea typeface="Calibri" pitchFamily="34" charset="-122"/>
                <a:cs typeface="Calibri" pitchFamily="34" charset="-120"/>
              </a:rPr>
              <a:t>QGIS — Political Map</a:t>
            </a:r>
            <a:endParaRPr lang="en-US" sz="900" dirty="0"/>
          </a:p>
        </p:txBody>
      </p:sp>
      <p:sp>
        <p:nvSpPr>
          <p:cNvPr id="9" name="Shape 7"/>
          <p:cNvSpPr/>
          <p:nvPr/>
        </p:nvSpPr>
        <p:spPr>
          <a:xfrm>
            <a:off x="5760720" y="777240"/>
            <a:ext cx="3108960" cy="3520440"/>
          </a:xfrm>
          <a:prstGeom prst="rect">
            <a:avLst/>
          </a:prstGeom>
          <a:solidFill>
            <a:srgbClr val="1C2E44"/>
          </a:solidFill>
          <a:ln/>
          <a:effectLst>
            <a:outerShdw blurRad="101600" dist="38100" dir="8100000" algn="bl" rotWithShape="0">
              <a:srgbClr val="000000">
                <a:alpha val="20000"/>
              </a:srgbClr>
            </a:outerShdw>
          </a:effectLst>
        </p:spPr>
      </p:sp>
      <p:sp>
        <p:nvSpPr>
          <p:cNvPr id="10" name="Text 8"/>
          <p:cNvSpPr/>
          <p:nvPr/>
        </p:nvSpPr>
        <p:spPr>
          <a:xfrm>
            <a:off x="5897880" y="868680"/>
            <a:ext cx="2834640" cy="274320"/>
          </a:xfrm>
          <a:prstGeom prst="rect">
            <a:avLst/>
          </a:prstGeom>
          <a:noFill/>
          <a:ln/>
        </p:spPr>
        <p:txBody>
          <a:bodyPr wrap="square" lIns="0" tIns="0" rIns="0" bIns="0" rtlCol="0" anchor="ctr"/>
          <a:lstStyle/>
          <a:p>
            <a:pPr marL="0" indent="0">
              <a:buNone/>
            </a:pPr>
            <a:r>
              <a:rPr lang="en-US" sz="1200" b="1" dirty="0">
                <a:solidFill>
                  <a:srgbClr val="F0A500"/>
                </a:solidFill>
                <a:latin typeface="Calibri" pitchFamily="34" charset="0"/>
                <a:ea typeface="Calibri" pitchFamily="34" charset="-122"/>
                <a:cs typeface="Calibri" pitchFamily="34" charset="-120"/>
              </a:rPr>
              <a:t>What Our Map Shows</a:t>
            </a:r>
            <a:endParaRPr lang="en-US" sz="1200" dirty="0"/>
          </a:p>
        </p:txBody>
      </p:sp>
      <p:sp>
        <p:nvSpPr>
          <p:cNvPr id="11" name="Shape 9"/>
          <p:cNvSpPr/>
          <p:nvPr/>
        </p:nvSpPr>
        <p:spPr>
          <a:xfrm>
            <a:off x="5897880" y="1234440"/>
            <a:ext cx="54864" cy="320040"/>
          </a:xfrm>
          <a:prstGeom prst="rect">
            <a:avLst/>
          </a:prstGeom>
          <a:solidFill>
            <a:srgbClr val="E74C3C"/>
          </a:solidFill>
          <a:ln/>
        </p:spPr>
      </p:sp>
      <p:sp>
        <p:nvSpPr>
          <p:cNvPr id="12" name="Text 10"/>
          <p:cNvSpPr/>
          <p:nvPr/>
        </p:nvSpPr>
        <p:spPr>
          <a:xfrm>
            <a:off x="6035040" y="1234440"/>
            <a:ext cx="2697480" cy="38404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Iran controls the entire northern coastline of the Strait, giving it direct geographic authority over half the waterway.</a:t>
            </a:r>
            <a:endParaRPr lang="en-US" sz="950" dirty="0"/>
          </a:p>
        </p:txBody>
      </p:sp>
      <p:sp>
        <p:nvSpPr>
          <p:cNvPr id="13" name="Shape 11"/>
          <p:cNvSpPr/>
          <p:nvPr/>
        </p:nvSpPr>
        <p:spPr>
          <a:xfrm>
            <a:off x="5897880" y="1691640"/>
            <a:ext cx="54864" cy="320040"/>
          </a:xfrm>
          <a:prstGeom prst="rect">
            <a:avLst/>
          </a:prstGeom>
          <a:solidFill>
            <a:srgbClr val="E74C3C"/>
          </a:solidFill>
          <a:ln/>
        </p:spPr>
      </p:sp>
      <p:sp>
        <p:nvSpPr>
          <p:cNvPr id="14" name="Text 12"/>
          <p:cNvSpPr/>
          <p:nvPr/>
        </p:nvSpPr>
        <p:spPr>
          <a:xfrm>
            <a:off x="6035040" y="1691640"/>
            <a:ext cx="2697480" cy="38404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Oman's Musandam Peninsula forms the southern shore — a geographically isolated exclave surrounded by UAE territory.</a:t>
            </a:r>
            <a:endParaRPr lang="en-US" sz="950" dirty="0"/>
          </a:p>
        </p:txBody>
      </p:sp>
      <p:sp>
        <p:nvSpPr>
          <p:cNvPr id="15" name="Shape 13"/>
          <p:cNvSpPr/>
          <p:nvPr/>
        </p:nvSpPr>
        <p:spPr>
          <a:xfrm>
            <a:off x="5897880" y="2148840"/>
            <a:ext cx="54864" cy="320040"/>
          </a:xfrm>
          <a:prstGeom prst="rect">
            <a:avLst/>
          </a:prstGeom>
          <a:solidFill>
            <a:srgbClr val="E74C3C"/>
          </a:solidFill>
          <a:ln/>
        </p:spPr>
      </p:sp>
      <p:sp>
        <p:nvSpPr>
          <p:cNvPr id="16" name="Text 14"/>
          <p:cNvSpPr/>
          <p:nvPr/>
        </p:nvSpPr>
        <p:spPr>
          <a:xfrm>
            <a:off x="6035040" y="2148840"/>
            <a:ext cx="2697480" cy="38404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The UAE controls ports including Dubai and Abu Dhabi, all dependent on Strait access for maritime trade.</a:t>
            </a:r>
            <a:endParaRPr lang="en-US" sz="950" dirty="0"/>
          </a:p>
        </p:txBody>
      </p:sp>
      <p:sp>
        <p:nvSpPr>
          <p:cNvPr id="17" name="Shape 15"/>
          <p:cNvSpPr/>
          <p:nvPr/>
        </p:nvSpPr>
        <p:spPr>
          <a:xfrm>
            <a:off x="5897880" y="2606040"/>
            <a:ext cx="54864" cy="320040"/>
          </a:xfrm>
          <a:prstGeom prst="rect">
            <a:avLst/>
          </a:prstGeom>
          <a:solidFill>
            <a:srgbClr val="E74C3C"/>
          </a:solidFill>
          <a:ln/>
        </p:spPr>
      </p:sp>
      <p:sp>
        <p:nvSpPr>
          <p:cNvPr id="18" name="Text 16"/>
          <p:cNvSpPr/>
          <p:nvPr/>
        </p:nvSpPr>
        <p:spPr>
          <a:xfrm>
            <a:off x="6035040" y="2606040"/>
            <a:ext cx="2697480" cy="38404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Our QGIS measurement confirmed the narrowest point is approximately 33 km — visible clearly in the political layer.</a:t>
            </a:r>
            <a:endParaRPr lang="en-US" sz="950" dirty="0"/>
          </a:p>
        </p:txBody>
      </p:sp>
      <p:sp>
        <p:nvSpPr>
          <p:cNvPr id="19" name="Shape 17"/>
          <p:cNvSpPr/>
          <p:nvPr/>
        </p:nvSpPr>
        <p:spPr>
          <a:xfrm>
            <a:off x="5897880" y="3063240"/>
            <a:ext cx="54864" cy="320040"/>
          </a:xfrm>
          <a:prstGeom prst="rect">
            <a:avLst/>
          </a:prstGeom>
          <a:solidFill>
            <a:srgbClr val="E74C3C"/>
          </a:solidFill>
          <a:ln/>
        </p:spPr>
      </p:sp>
      <p:sp>
        <p:nvSpPr>
          <p:cNvPr id="20" name="Text 18"/>
          <p:cNvSpPr/>
          <p:nvPr/>
        </p:nvSpPr>
        <p:spPr>
          <a:xfrm>
            <a:off x="6035040" y="3063240"/>
            <a:ext cx="2697480" cy="38404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There are no overland connections between the Persian Gulf states and the Indian Ocean — the Strait is the only route.</a:t>
            </a:r>
            <a:endParaRPr lang="en-US" sz="950" dirty="0"/>
          </a:p>
        </p:txBody>
      </p:sp>
      <p:sp>
        <p:nvSpPr>
          <p:cNvPr id="21" name="Shape 19"/>
          <p:cNvSpPr/>
          <p:nvPr/>
        </p:nvSpPr>
        <p:spPr>
          <a:xfrm>
            <a:off x="0" y="4892040"/>
            <a:ext cx="9144000" cy="251460"/>
          </a:xfrm>
          <a:prstGeom prst="rect">
            <a:avLst/>
          </a:prstGeom>
          <a:solidFill>
            <a:srgbClr val="0A1628"/>
          </a:solidFill>
          <a:ln/>
        </p:spPr>
      </p:sp>
      <p:sp>
        <p:nvSpPr>
          <p:cNvPr id="22" name="Text 20"/>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Natural Earth country boundaries shapefile | DIVA-GIS coastlines  |  GIS Project — Strait of Hormuz  |  April 2026</a:t>
            </a:r>
            <a:endParaRPr lang="en-US" sz="900" dirty="0"/>
          </a:p>
        </p:txBody>
      </p:sp>
      <p:pic>
        <p:nvPicPr>
          <p:cNvPr id="25" name="Picture 24">
            <a:extLst>
              <a:ext uri="{FF2B5EF4-FFF2-40B4-BE49-F238E27FC236}">
                <a16:creationId xmlns:a16="http://schemas.microsoft.com/office/drawing/2014/main" id="{63B7965E-00D5-6F9E-58A7-539D4438D2F6}"/>
              </a:ext>
            </a:extLst>
          </p:cNvPr>
          <p:cNvPicPr>
            <a:picLocks noChangeAspect="1"/>
          </p:cNvPicPr>
          <p:nvPr/>
        </p:nvPicPr>
        <p:blipFill>
          <a:blip r:embed="rId3"/>
          <a:stretch>
            <a:fillRect/>
          </a:stretch>
        </p:blipFill>
        <p:spPr>
          <a:xfrm>
            <a:off x="274319" y="779266"/>
            <a:ext cx="5303519" cy="37504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03 — Key Countries: Iran and Oman</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Political Geography Detail</a:t>
            </a:r>
            <a:endParaRPr lang="en-US" sz="1200" dirty="0"/>
          </a:p>
        </p:txBody>
      </p:sp>
      <p:pic>
        <p:nvPicPr>
          <p:cNvPr id="5" name="Image 0" descr="/home/claude/hormuz_pptx/countries.png"/>
          <p:cNvPicPr>
            <a:picLocks noChangeAspect="1"/>
          </p:cNvPicPr>
          <p:nvPr/>
        </p:nvPicPr>
        <p:blipFill>
          <a:blip r:embed="rId3"/>
          <a:stretch>
            <a:fillRect/>
          </a:stretch>
        </p:blipFill>
        <p:spPr>
          <a:xfrm>
            <a:off x="274320" y="777240"/>
            <a:ext cx="8595360" cy="3520440"/>
          </a:xfrm>
          <a:prstGeom prst="rect">
            <a:avLst/>
          </a:prstGeom>
          <a:effectLst>
            <a:outerShdw blurRad="101600" dist="38100" dir="8100000" algn="bl" rotWithShape="0">
              <a:srgbClr val="000000">
                <a:alpha val="20000"/>
              </a:srgbClr>
            </a:outerShdw>
          </a:effectLst>
        </p:spPr>
      </p:pic>
      <p:sp>
        <p:nvSpPr>
          <p:cNvPr id="6" name="Shape 3"/>
          <p:cNvSpPr/>
          <p:nvPr/>
        </p:nvSpPr>
        <p:spPr>
          <a:xfrm>
            <a:off x="274320" y="4370832"/>
            <a:ext cx="8595360" cy="457200"/>
          </a:xfrm>
          <a:prstGeom prst="rect">
            <a:avLst/>
          </a:prstGeom>
          <a:solidFill>
            <a:srgbClr val="1A3A5C"/>
          </a:solidFill>
          <a:ln/>
        </p:spPr>
      </p:sp>
      <p:sp>
        <p:nvSpPr>
          <p:cNvPr id="7" name="Text 4"/>
          <p:cNvSpPr/>
          <p:nvPr/>
        </p:nvSpPr>
        <p:spPr>
          <a:xfrm>
            <a:off x="457200" y="4389120"/>
            <a:ext cx="8229600" cy="402336"/>
          </a:xfrm>
          <a:prstGeom prst="rect">
            <a:avLst/>
          </a:prstGeom>
          <a:noFill/>
          <a:ln/>
        </p:spPr>
        <p:txBody>
          <a:bodyPr wrap="square" lIns="0" tIns="0" rIns="0" bIns="0" rtlCol="0" anchor="ctr"/>
          <a:lstStyle/>
          <a:p>
            <a:pPr marL="0" indent="0">
              <a:buNone/>
            </a:pPr>
            <a:r>
              <a:rPr lang="en-US" sz="1000" i="1" dirty="0">
                <a:solidFill>
                  <a:srgbClr val="D6E4F0"/>
                </a:solidFill>
                <a:latin typeface="Calibri" pitchFamily="34" charset="0"/>
                <a:ea typeface="Calibri" pitchFamily="34" charset="-122"/>
                <a:cs typeface="Calibri" pitchFamily="34" charset="-120"/>
              </a:rPr>
              <a:t>Geographic fact: The Musandam Peninsula (Oman) is physically separated from mainland Oman by UAE territory — making it a strategic exclave that directly controls the southern shore of the Strait.</a:t>
            </a:r>
            <a:endParaRPr lang="en-US" sz="1000" dirty="0"/>
          </a:p>
        </p:txBody>
      </p:sp>
      <p:sp>
        <p:nvSpPr>
          <p:cNvPr id="8" name="Shape 5"/>
          <p:cNvSpPr/>
          <p:nvPr/>
        </p:nvSpPr>
        <p:spPr>
          <a:xfrm>
            <a:off x="0" y="4892040"/>
            <a:ext cx="9144000" cy="251460"/>
          </a:xfrm>
          <a:prstGeom prst="rect">
            <a:avLst/>
          </a:prstGeom>
          <a:solidFill>
            <a:srgbClr val="0A1628"/>
          </a:solidFill>
          <a:ln/>
        </p:spPr>
      </p:sp>
      <p:sp>
        <p:nvSpPr>
          <p:cNvPr id="9" name="Text 6"/>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DIVA-GIS administrative boundaries | Natural Earth  |  GIS Project — Strait of Hormuz  |  April 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04 — Resource Map: Oil &amp; Gas Fields</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Map 2 Analysis</a:t>
            </a:r>
            <a:endParaRPr lang="en-US" sz="1200" dirty="0"/>
          </a:p>
        </p:txBody>
      </p:sp>
      <p:sp>
        <p:nvSpPr>
          <p:cNvPr id="5" name="Shape 3"/>
          <p:cNvSpPr/>
          <p:nvPr/>
        </p:nvSpPr>
        <p:spPr>
          <a:xfrm>
            <a:off x="274320" y="777240"/>
            <a:ext cx="5303520" cy="3520440"/>
          </a:xfrm>
          <a:prstGeom prst="rect">
            <a:avLst/>
          </a:prstGeom>
          <a:solidFill>
            <a:srgbClr val="1A3A5C"/>
          </a:solidFill>
          <a:ln w="25400">
            <a:solidFill>
              <a:srgbClr val="F0A500"/>
            </a:solidFill>
            <a:prstDash val="dash"/>
          </a:ln>
        </p:spPr>
      </p:sp>
      <p:sp>
        <p:nvSpPr>
          <p:cNvPr id="7" name="Text 5"/>
          <p:cNvSpPr/>
          <p:nvPr/>
        </p:nvSpPr>
        <p:spPr>
          <a:xfrm>
            <a:off x="271660" y="4503420"/>
            <a:ext cx="5303520" cy="182880"/>
          </a:xfrm>
          <a:prstGeom prst="rect">
            <a:avLst/>
          </a:prstGeom>
          <a:noFill/>
          <a:ln/>
        </p:spPr>
        <p:txBody>
          <a:bodyPr wrap="square" lIns="0" tIns="0" rIns="0" bIns="0" rtlCol="0" anchor="ctr"/>
          <a:lstStyle/>
          <a:p>
            <a:pPr marL="0" indent="0" algn="ctr">
              <a:buNone/>
            </a:pPr>
            <a:r>
              <a:rPr lang="en-US" sz="900" dirty="0">
                <a:solidFill>
                  <a:srgbClr val="8BAFC9"/>
                </a:solidFill>
                <a:latin typeface="Calibri" pitchFamily="34" charset="0"/>
                <a:ea typeface="Calibri" pitchFamily="34" charset="-122"/>
                <a:cs typeface="Calibri" pitchFamily="34" charset="-120"/>
              </a:rPr>
              <a:t>QGIS — Resource Map</a:t>
            </a:r>
            <a:endParaRPr lang="en-US" sz="900" dirty="0"/>
          </a:p>
        </p:txBody>
      </p:sp>
      <p:sp>
        <p:nvSpPr>
          <p:cNvPr id="8" name="Shape 6"/>
          <p:cNvSpPr/>
          <p:nvPr/>
        </p:nvSpPr>
        <p:spPr>
          <a:xfrm>
            <a:off x="5760720" y="777240"/>
            <a:ext cx="3108960" cy="3520440"/>
          </a:xfrm>
          <a:prstGeom prst="rect">
            <a:avLst/>
          </a:prstGeom>
          <a:solidFill>
            <a:srgbClr val="1C2E44"/>
          </a:solidFill>
          <a:ln/>
          <a:effectLst>
            <a:outerShdw blurRad="101600" dist="38100" dir="8100000" algn="bl" rotWithShape="0">
              <a:srgbClr val="000000">
                <a:alpha val="20000"/>
              </a:srgbClr>
            </a:outerShdw>
          </a:effectLst>
        </p:spPr>
      </p:sp>
      <p:sp>
        <p:nvSpPr>
          <p:cNvPr id="9" name="Text 7"/>
          <p:cNvSpPr/>
          <p:nvPr/>
        </p:nvSpPr>
        <p:spPr>
          <a:xfrm>
            <a:off x="5897880" y="868680"/>
            <a:ext cx="2834640" cy="274320"/>
          </a:xfrm>
          <a:prstGeom prst="rect">
            <a:avLst/>
          </a:prstGeom>
          <a:noFill/>
          <a:ln/>
        </p:spPr>
        <p:txBody>
          <a:bodyPr wrap="square" lIns="0" tIns="0" rIns="0" bIns="0" rtlCol="0" anchor="ctr"/>
          <a:lstStyle/>
          <a:p>
            <a:pPr marL="0" indent="0">
              <a:buNone/>
            </a:pPr>
            <a:r>
              <a:rPr lang="en-US" sz="1200" b="1" dirty="0">
                <a:solidFill>
                  <a:srgbClr val="F0A500"/>
                </a:solidFill>
                <a:latin typeface="Calibri" pitchFamily="34" charset="0"/>
                <a:ea typeface="Calibri" pitchFamily="34" charset="-122"/>
                <a:cs typeface="Calibri" pitchFamily="34" charset="-120"/>
              </a:rPr>
              <a:t>What Our Map Shows</a:t>
            </a:r>
            <a:endParaRPr lang="en-US" sz="1200" dirty="0"/>
          </a:p>
        </p:txBody>
      </p:sp>
      <p:sp>
        <p:nvSpPr>
          <p:cNvPr id="10" name="Shape 8"/>
          <p:cNvSpPr/>
          <p:nvPr/>
        </p:nvSpPr>
        <p:spPr>
          <a:xfrm>
            <a:off x="5897880" y="1261872"/>
            <a:ext cx="54864" cy="411480"/>
          </a:xfrm>
          <a:prstGeom prst="rect">
            <a:avLst/>
          </a:prstGeom>
          <a:solidFill>
            <a:srgbClr val="F0A500"/>
          </a:solidFill>
          <a:ln/>
        </p:spPr>
      </p:sp>
      <p:sp>
        <p:nvSpPr>
          <p:cNvPr id="11" name="Text 9"/>
          <p:cNvSpPr/>
          <p:nvPr/>
        </p:nvSpPr>
        <p:spPr>
          <a:xfrm>
            <a:off x="6035040" y="125272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Heavy clustering of oil and gas extraction points around the Persian Gulf coastline — all pointing toward the Strait as the only export exit.</a:t>
            </a:r>
            <a:endParaRPr lang="en-US" sz="950" dirty="0"/>
          </a:p>
        </p:txBody>
      </p:sp>
      <p:sp>
        <p:nvSpPr>
          <p:cNvPr id="12" name="Shape 10"/>
          <p:cNvSpPr/>
          <p:nvPr/>
        </p:nvSpPr>
        <p:spPr>
          <a:xfrm>
            <a:off x="5897880" y="1810512"/>
            <a:ext cx="54864" cy="411480"/>
          </a:xfrm>
          <a:prstGeom prst="rect">
            <a:avLst/>
          </a:prstGeom>
          <a:solidFill>
            <a:srgbClr val="F0A500"/>
          </a:solidFill>
          <a:ln/>
        </p:spPr>
      </p:sp>
      <p:sp>
        <p:nvSpPr>
          <p:cNvPr id="13" name="Text 11"/>
          <p:cNvSpPr/>
          <p:nvPr/>
        </p:nvSpPr>
        <p:spPr>
          <a:xfrm>
            <a:off x="6035040" y="180136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South Pars/North Dome field (Iran/Qatar border) is the world's largest natural gas field — visible as a dense cluster in our map.</a:t>
            </a:r>
            <a:endParaRPr lang="en-US" sz="950" dirty="0"/>
          </a:p>
        </p:txBody>
      </p:sp>
      <p:sp>
        <p:nvSpPr>
          <p:cNvPr id="14" name="Shape 12"/>
          <p:cNvSpPr/>
          <p:nvPr/>
        </p:nvSpPr>
        <p:spPr>
          <a:xfrm>
            <a:off x="5897880" y="2359152"/>
            <a:ext cx="54864" cy="411480"/>
          </a:xfrm>
          <a:prstGeom prst="rect">
            <a:avLst/>
          </a:prstGeom>
          <a:solidFill>
            <a:srgbClr val="F0A500"/>
          </a:solidFill>
          <a:ln/>
        </p:spPr>
      </p:sp>
      <p:sp>
        <p:nvSpPr>
          <p:cNvPr id="15" name="Text 13"/>
          <p:cNvSpPr/>
          <p:nvPr/>
        </p:nvSpPr>
        <p:spPr>
          <a:xfrm>
            <a:off x="6035040" y="235000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Saudi Arabia, Kuwait, Iraq and UAE fields appear in our map — all landlocked from global ocean trade without the Strait.</a:t>
            </a:r>
            <a:endParaRPr lang="en-US" sz="950" dirty="0"/>
          </a:p>
        </p:txBody>
      </p:sp>
      <p:sp>
        <p:nvSpPr>
          <p:cNvPr id="16" name="Shape 14"/>
          <p:cNvSpPr/>
          <p:nvPr/>
        </p:nvSpPr>
        <p:spPr>
          <a:xfrm>
            <a:off x="5897880" y="2907792"/>
            <a:ext cx="54864" cy="411480"/>
          </a:xfrm>
          <a:prstGeom prst="rect">
            <a:avLst/>
          </a:prstGeom>
          <a:solidFill>
            <a:srgbClr val="F0A500"/>
          </a:solidFill>
          <a:ln/>
        </p:spPr>
      </p:sp>
      <p:sp>
        <p:nvSpPr>
          <p:cNvPr id="17" name="Text 15"/>
          <p:cNvSpPr/>
          <p:nvPr/>
        </p:nvSpPr>
        <p:spPr>
          <a:xfrm>
            <a:off x="6035040" y="289864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Our CSV data from Global Energy Monitor showed over 200 active extraction points in the immediate region.</a:t>
            </a:r>
            <a:endParaRPr lang="en-US" sz="950" dirty="0"/>
          </a:p>
        </p:txBody>
      </p:sp>
      <p:sp>
        <p:nvSpPr>
          <p:cNvPr id="18" name="Shape 16"/>
          <p:cNvSpPr/>
          <p:nvPr/>
        </p:nvSpPr>
        <p:spPr>
          <a:xfrm>
            <a:off x="0" y="4892040"/>
            <a:ext cx="9144000" cy="251460"/>
          </a:xfrm>
          <a:prstGeom prst="rect">
            <a:avLst/>
          </a:prstGeom>
          <a:solidFill>
            <a:srgbClr val="0A1628"/>
          </a:solidFill>
          <a:ln/>
        </p:spPr>
      </p:sp>
      <p:sp>
        <p:nvSpPr>
          <p:cNvPr id="19" name="Text 17"/>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Global Energy Monitor — Global Oil &amp; Gas Extraction Tracker (CSV)  |  GIS Project — Strait of Hormuz  |  April 2026</a:t>
            </a:r>
            <a:endParaRPr lang="en-US" sz="900" dirty="0"/>
          </a:p>
        </p:txBody>
      </p:sp>
      <p:pic>
        <p:nvPicPr>
          <p:cNvPr id="22" name="Picture 21">
            <a:extLst>
              <a:ext uri="{FF2B5EF4-FFF2-40B4-BE49-F238E27FC236}">
                <a16:creationId xmlns:a16="http://schemas.microsoft.com/office/drawing/2014/main" id="{8CEBEF5C-D0D2-BCF8-4E24-E424A522E060}"/>
              </a:ext>
            </a:extLst>
          </p:cNvPr>
          <p:cNvPicPr>
            <a:picLocks noChangeAspect="1"/>
          </p:cNvPicPr>
          <p:nvPr/>
        </p:nvPicPr>
        <p:blipFill>
          <a:blip r:embed="rId3"/>
          <a:stretch>
            <a:fillRect/>
          </a:stretch>
        </p:blipFill>
        <p:spPr>
          <a:xfrm>
            <a:off x="271660" y="718785"/>
            <a:ext cx="5351900" cy="378463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04 — Global Oil Dependency on the Strait</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Resource Significance</a:t>
            </a:r>
            <a:endParaRPr lang="en-US" sz="1200" dirty="0"/>
          </a:p>
        </p:txBody>
      </p:sp>
      <p:pic>
        <p:nvPicPr>
          <p:cNvPr id="5" name="Image 0" descr="/home/claude/hormuz_pptx/oil_chart.png"/>
          <p:cNvPicPr>
            <a:picLocks noChangeAspect="1"/>
          </p:cNvPicPr>
          <p:nvPr/>
        </p:nvPicPr>
        <p:blipFill>
          <a:blip r:embed="rId3"/>
          <a:stretch>
            <a:fillRect/>
          </a:stretch>
        </p:blipFill>
        <p:spPr>
          <a:xfrm>
            <a:off x="274320" y="777240"/>
            <a:ext cx="5486400" cy="3200400"/>
          </a:xfrm>
          <a:prstGeom prst="rect">
            <a:avLst/>
          </a:prstGeom>
          <a:effectLst>
            <a:outerShdw blurRad="101600" dist="38100" dir="8100000" algn="bl" rotWithShape="0">
              <a:srgbClr val="000000">
                <a:alpha val="20000"/>
              </a:srgbClr>
            </a:outerShdw>
          </a:effectLst>
        </p:spPr>
      </p:pic>
      <p:sp>
        <p:nvSpPr>
          <p:cNvPr id="6" name="Shape 3"/>
          <p:cNvSpPr/>
          <p:nvPr/>
        </p:nvSpPr>
        <p:spPr>
          <a:xfrm>
            <a:off x="5943600" y="777240"/>
            <a:ext cx="2926080" cy="3200400"/>
          </a:xfrm>
          <a:prstGeom prst="rect">
            <a:avLst/>
          </a:prstGeom>
          <a:solidFill>
            <a:srgbClr val="1C2E44"/>
          </a:solidFill>
          <a:ln/>
          <a:effectLst>
            <a:outerShdw blurRad="101600" dist="38100" dir="8100000" algn="bl" rotWithShape="0">
              <a:srgbClr val="000000">
                <a:alpha val="20000"/>
              </a:srgbClr>
            </a:outerShdw>
          </a:effectLst>
        </p:spPr>
      </p:sp>
      <p:sp>
        <p:nvSpPr>
          <p:cNvPr id="7" name="Text 4"/>
          <p:cNvSpPr/>
          <p:nvPr/>
        </p:nvSpPr>
        <p:spPr>
          <a:xfrm>
            <a:off x="6080760" y="868680"/>
            <a:ext cx="2651760" cy="274320"/>
          </a:xfrm>
          <a:prstGeom prst="rect">
            <a:avLst/>
          </a:prstGeom>
          <a:noFill/>
          <a:ln/>
        </p:spPr>
        <p:txBody>
          <a:bodyPr wrap="square" lIns="0" tIns="0" rIns="0" bIns="0" rtlCol="0" anchor="ctr"/>
          <a:lstStyle/>
          <a:p>
            <a:pPr marL="0" indent="0">
              <a:buNone/>
            </a:pPr>
            <a:r>
              <a:rPr lang="en-US" sz="1200" b="1" dirty="0">
                <a:solidFill>
                  <a:srgbClr val="F0A500"/>
                </a:solidFill>
                <a:latin typeface="Calibri" pitchFamily="34" charset="0"/>
                <a:ea typeface="Calibri" pitchFamily="34" charset="-122"/>
                <a:cs typeface="Calibri" pitchFamily="34" charset="-120"/>
              </a:rPr>
              <a:t>Key Resource Data</a:t>
            </a:r>
            <a:endParaRPr lang="en-US" sz="1200" dirty="0"/>
          </a:p>
        </p:txBody>
      </p:sp>
      <p:sp>
        <p:nvSpPr>
          <p:cNvPr id="8" name="Shape 5"/>
          <p:cNvSpPr/>
          <p:nvPr/>
        </p:nvSpPr>
        <p:spPr>
          <a:xfrm>
            <a:off x="6080760" y="1261872"/>
            <a:ext cx="2743200" cy="566928"/>
          </a:xfrm>
          <a:prstGeom prst="rect">
            <a:avLst/>
          </a:prstGeom>
          <a:solidFill>
            <a:srgbClr val="1A3A5C"/>
          </a:solidFill>
          <a:ln/>
        </p:spPr>
      </p:sp>
      <p:sp>
        <p:nvSpPr>
          <p:cNvPr id="9" name="Text 6"/>
          <p:cNvSpPr/>
          <p:nvPr/>
        </p:nvSpPr>
        <p:spPr>
          <a:xfrm>
            <a:off x="6172200" y="1298448"/>
            <a:ext cx="777240" cy="475488"/>
          </a:xfrm>
          <a:prstGeom prst="rect">
            <a:avLst/>
          </a:prstGeom>
          <a:noFill/>
          <a:ln/>
        </p:spPr>
        <p:txBody>
          <a:bodyPr wrap="square" lIns="0" tIns="0" rIns="0" bIns="0" rtlCol="0" anchor="ctr"/>
          <a:lstStyle/>
          <a:p>
            <a:pPr marL="0" indent="0">
              <a:buNone/>
            </a:pPr>
            <a:r>
              <a:rPr lang="en-US" sz="2200" b="1" dirty="0">
                <a:solidFill>
                  <a:srgbClr val="E74C3C"/>
                </a:solidFill>
                <a:latin typeface="Calibri" pitchFamily="34" charset="0"/>
                <a:ea typeface="Calibri" pitchFamily="34" charset="-122"/>
                <a:cs typeface="Calibri" pitchFamily="34" charset="-120"/>
              </a:rPr>
              <a:t>21%</a:t>
            </a:r>
            <a:endParaRPr lang="en-US" sz="2200" dirty="0"/>
          </a:p>
        </p:txBody>
      </p:sp>
      <p:sp>
        <p:nvSpPr>
          <p:cNvPr id="10" name="Text 7"/>
          <p:cNvSpPr/>
          <p:nvPr/>
        </p:nvSpPr>
        <p:spPr>
          <a:xfrm>
            <a:off x="6995160" y="1371600"/>
            <a:ext cx="1737360" cy="347472"/>
          </a:xfrm>
          <a:prstGeom prst="rect">
            <a:avLst/>
          </a:prstGeom>
          <a:noFill/>
          <a:ln/>
        </p:spPr>
        <p:txBody>
          <a:bodyPr wrap="square" lIns="0" tIns="0" rIns="0" bIns="0" rtlCol="0" anchor="ctr"/>
          <a:lstStyle/>
          <a:p>
            <a:pPr marL="0" indent="0">
              <a:buNone/>
            </a:pPr>
            <a:r>
              <a:rPr lang="en-US" sz="1000" dirty="0">
                <a:solidFill>
                  <a:srgbClr val="A8C4D8"/>
                </a:solidFill>
                <a:latin typeface="Calibri" pitchFamily="34" charset="0"/>
                <a:ea typeface="Calibri" pitchFamily="34" charset="-122"/>
                <a:cs typeface="Calibri" pitchFamily="34" charset="-120"/>
              </a:rPr>
              <a:t>of global oil trade daily</a:t>
            </a:r>
            <a:endParaRPr lang="en-US" sz="1000" dirty="0"/>
          </a:p>
        </p:txBody>
      </p:sp>
      <p:sp>
        <p:nvSpPr>
          <p:cNvPr id="11" name="Shape 8"/>
          <p:cNvSpPr/>
          <p:nvPr/>
        </p:nvSpPr>
        <p:spPr>
          <a:xfrm>
            <a:off x="6080760" y="1920240"/>
            <a:ext cx="2743200" cy="566928"/>
          </a:xfrm>
          <a:prstGeom prst="rect">
            <a:avLst/>
          </a:prstGeom>
          <a:solidFill>
            <a:srgbClr val="1A3A5C"/>
          </a:solidFill>
          <a:ln/>
        </p:spPr>
      </p:sp>
      <p:sp>
        <p:nvSpPr>
          <p:cNvPr id="12" name="Text 9"/>
          <p:cNvSpPr/>
          <p:nvPr/>
        </p:nvSpPr>
        <p:spPr>
          <a:xfrm>
            <a:off x="6172200" y="1956816"/>
            <a:ext cx="777240" cy="475488"/>
          </a:xfrm>
          <a:prstGeom prst="rect">
            <a:avLst/>
          </a:prstGeom>
          <a:noFill/>
          <a:ln/>
        </p:spPr>
        <p:txBody>
          <a:bodyPr wrap="square" lIns="0" tIns="0" rIns="0" bIns="0" rtlCol="0" anchor="ctr"/>
          <a:lstStyle/>
          <a:p>
            <a:pPr marL="0" indent="0">
              <a:buNone/>
            </a:pPr>
            <a:r>
              <a:rPr lang="en-US" sz="2200" b="1" dirty="0">
                <a:solidFill>
                  <a:srgbClr val="3498DB"/>
                </a:solidFill>
                <a:latin typeface="Calibri" pitchFamily="34" charset="0"/>
                <a:ea typeface="Calibri" pitchFamily="34" charset="-122"/>
                <a:cs typeface="Calibri" pitchFamily="34" charset="-120"/>
              </a:rPr>
              <a:t>17M</a:t>
            </a:r>
            <a:endParaRPr lang="en-US" sz="2200" dirty="0"/>
          </a:p>
        </p:txBody>
      </p:sp>
      <p:sp>
        <p:nvSpPr>
          <p:cNvPr id="13" name="Text 10"/>
          <p:cNvSpPr/>
          <p:nvPr/>
        </p:nvSpPr>
        <p:spPr>
          <a:xfrm>
            <a:off x="6995160" y="2029968"/>
            <a:ext cx="1737360" cy="347472"/>
          </a:xfrm>
          <a:prstGeom prst="rect">
            <a:avLst/>
          </a:prstGeom>
          <a:noFill/>
          <a:ln/>
        </p:spPr>
        <p:txBody>
          <a:bodyPr wrap="square" lIns="0" tIns="0" rIns="0" bIns="0" rtlCol="0" anchor="ctr"/>
          <a:lstStyle/>
          <a:p>
            <a:pPr marL="0" indent="0">
              <a:buNone/>
            </a:pPr>
            <a:r>
              <a:rPr lang="en-US" sz="1000" dirty="0">
                <a:solidFill>
                  <a:srgbClr val="A8C4D8"/>
                </a:solidFill>
                <a:latin typeface="Calibri" pitchFamily="34" charset="0"/>
                <a:ea typeface="Calibri" pitchFamily="34" charset="-122"/>
                <a:cs typeface="Calibri" pitchFamily="34" charset="-120"/>
              </a:rPr>
              <a:t>barrels per day transit</a:t>
            </a:r>
            <a:endParaRPr lang="en-US" sz="1000" dirty="0"/>
          </a:p>
        </p:txBody>
      </p:sp>
      <p:sp>
        <p:nvSpPr>
          <p:cNvPr id="14" name="Shape 11"/>
          <p:cNvSpPr/>
          <p:nvPr/>
        </p:nvSpPr>
        <p:spPr>
          <a:xfrm>
            <a:off x="6080760" y="2578608"/>
            <a:ext cx="2743200" cy="566928"/>
          </a:xfrm>
          <a:prstGeom prst="rect">
            <a:avLst/>
          </a:prstGeom>
          <a:solidFill>
            <a:srgbClr val="1A3A5C"/>
          </a:solidFill>
          <a:ln/>
        </p:spPr>
      </p:sp>
      <p:sp>
        <p:nvSpPr>
          <p:cNvPr id="15" name="Text 12"/>
          <p:cNvSpPr/>
          <p:nvPr/>
        </p:nvSpPr>
        <p:spPr>
          <a:xfrm>
            <a:off x="6172200" y="2615184"/>
            <a:ext cx="777240" cy="475488"/>
          </a:xfrm>
          <a:prstGeom prst="rect">
            <a:avLst/>
          </a:prstGeom>
          <a:noFill/>
          <a:ln/>
        </p:spPr>
        <p:txBody>
          <a:bodyPr wrap="square" lIns="0" tIns="0" rIns="0" bIns="0" rtlCol="0" anchor="ctr"/>
          <a:lstStyle/>
          <a:p>
            <a:pPr marL="0" indent="0">
              <a:buNone/>
            </a:pPr>
            <a:r>
              <a:rPr lang="en-US" sz="2200" b="1" dirty="0">
                <a:solidFill>
                  <a:srgbClr val="F0A500"/>
                </a:solidFill>
                <a:latin typeface="Calibri" pitchFamily="34" charset="0"/>
                <a:ea typeface="Calibri" pitchFamily="34" charset="-122"/>
                <a:cs typeface="Calibri" pitchFamily="34" charset="-120"/>
              </a:rPr>
              <a:t>3.8B</a:t>
            </a:r>
            <a:endParaRPr lang="en-US" sz="2200" dirty="0"/>
          </a:p>
        </p:txBody>
      </p:sp>
      <p:sp>
        <p:nvSpPr>
          <p:cNvPr id="16" name="Text 13"/>
          <p:cNvSpPr/>
          <p:nvPr/>
        </p:nvSpPr>
        <p:spPr>
          <a:xfrm>
            <a:off x="6995160" y="2688336"/>
            <a:ext cx="1737360" cy="347472"/>
          </a:xfrm>
          <a:prstGeom prst="rect">
            <a:avLst/>
          </a:prstGeom>
          <a:noFill/>
          <a:ln/>
        </p:spPr>
        <p:txBody>
          <a:bodyPr wrap="square" lIns="0" tIns="0" rIns="0" bIns="0" rtlCol="0" anchor="ctr"/>
          <a:lstStyle/>
          <a:p>
            <a:pPr marL="0" indent="0">
              <a:buNone/>
            </a:pPr>
            <a:r>
              <a:rPr lang="en-US" sz="1000" dirty="0">
                <a:solidFill>
                  <a:srgbClr val="A8C4D8"/>
                </a:solidFill>
                <a:latin typeface="Calibri" pitchFamily="34" charset="0"/>
                <a:ea typeface="Calibri" pitchFamily="34" charset="-122"/>
                <a:cs typeface="Calibri" pitchFamily="34" charset="-120"/>
              </a:rPr>
              <a:t>cubic feet of LNG daily</a:t>
            </a:r>
            <a:endParaRPr lang="en-US" sz="1000" dirty="0"/>
          </a:p>
        </p:txBody>
      </p:sp>
      <p:sp>
        <p:nvSpPr>
          <p:cNvPr id="17" name="Shape 14"/>
          <p:cNvSpPr/>
          <p:nvPr/>
        </p:nvSpPr>
        <p:spPr>
          <a:xfrm>
            <a:off x="6080760" y="3236976"/>
            <a:ext cx="2743200" cy="566928"/>
          </a:xfrm>
          <a:prstGeom prst="rect">
            <a:avLst/>
          </a:prstGeom>
          <a:solidFill>
            <a:srgbClr val="1A3A5C"/>
          </a:solidFill>
          <a:ln/>
        </p:spPr>
      </p:sp>
      <p:sp>
        <p:nvSpPr>
          <p:cNvPr id="18" name="Text 15"/>
          <p:cNvSpPr/>
          <p:nvPr/>
        </p:nvSpPr>
        <p:spPr>
          <a:xfrm>
            <a:off x="6172200" y="3273552"/>
            <a:ext cx="777240" cy="475488"/>
          </a:xfrm>
          <a:prstGeom prst="rect">
            <a:avLst/>
          </a:prstGeom>
          <a:noFill/>
          <a:ln/>
        </p:spPr>
        <p:txBody>
          <a:bodyPr wrap="square" lIns="0" tIns="0" rIns="0" bIns="0" rtlCol="0" anchor="ctr"/>
          <a:lstStyle/>
          <a:p>
            <a:pPr marL="0" indent="0">
              <a:buNone/>
            </a:pPr>
            <a:r>
              <a:rPr lang="en-US" sz="2200" b="1" dirty="0">
                <a:solidFill>
                  <a:srgbClr val="D6E4F0"/>
                </a:solidFill>
                <a:latin typeface="Calibri" pitchFamily="34" charset="0"/>
                <a:ea typeface="Calibri" pitchFamily="34" charset="-122"/>
                <a:cs typeface="Calibri" pitchFamily="34" charset="-120"/>
              </a:rPr>
              <a:t>12+</a:t>
            </a:r>
            <a:endParaRPr lang="en-US" sz="2200" dirty="0"/>
          </a:p>
        </p:txBody>
      </p:sp>
      <p:sp>
        <p:nvSpPr>
          <p:cNvPr id="19" name="Text 16"/>
          <p:cNvSpPr/>
          <p:nvPr/>
        </p:nvSpPr>
        <p:spPr>
          <a:xfrm>
            <a:off x="6995160" y="3346704"/>
            <a:ext cx="1737360" cy="347472"/>
          </a:xfrm>
          <a:prstGeom prst="rect">
            <a:avLst/>
          </a:prstGeom>
          <a:noFill/>
          <a:ln/>
        </p:spPr>
        <p:txBody>
          <a:bodyPr wrap="square" lIns="0" tIns="0" rIns="0" bIns="0" rtlCol="0" anchor="ctr"/>
          <a:lstStyle/>
          <a:p>
            <a:pPr marL="0" indent="0">
              <a:buNone/>
            </a:pPr>
            <a:r>
              <a:rPr lang="en-US" sz="1000" dirty="0">
                <a:solidFill>
                  <a:srgbClr val="A8C4D8"/>
                </a:solidFill>
                <a:latin typeface="Calibri" pitchFamily="34" charset="0"/>
                <a:ea typeface="Calibri" pitchFamily="34" charset="-122"/>
                <a:cs typeface="Calibri" pitchFamily="34" charset="-120"/>
              </a:rPr>
              <a:t>countries depend on this route</a:t>
            </a:r>
            <a:endParaRPr lang="en-US" sz="1000" dirty="0"/>
          </a:p>
        </p:txBody>
      </p:sp>
      <p:sp>
        <p:nvSpPr>
          <p:cNvPr id="20" name="Shape 17"/>
          <p:cNvSpPr/>
          <p:nvPr/>
        </p:nvSpPr>
        <p:spPr>
          <a:xfrm>
            <a:off x="0" y="4892040"/>
            <a:ext cx="9144000" cy="251460"/>
          </a:xfrm>
          <a:prstGeom prst="rect">
            <a:avLst/>
          </a:prstGeom>
          <a:solidFill>
            <a:srgbClr val="0A1628"/>
          </a:solidFill>
          <a:ln/>
        </p:spPr>
      </p:sp>
      <p:sp>
        <p:nvSpPr>
          <p:cNvPr id="21" name="Text 18"/>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U.S. Energy Information Administration (EIA), 2023  |  GIS Project — Strait of Hormuz  |  April 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05 — Shipping Routes: The Maritime Chokepoint</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Map 3 Analysis</a:t>
            </a:r>
            <a:endParaRPr lang="en-US" sz="1200" dirty="0"/>
          </a:p>
        </p:txBody>
      </p:sp>
      <p:sp>
        <p:nvSpPr>
          <p:cNvPr id="5" name="Shape 3"/>
          <p:cNvSpPr/>
          <p:nvPr/>
        </p:nvSpPr>
        <p:spPr>
          <a:xfrm>
            <a:off x="274320" y="777240"/>
            <a:ext cx="5303520" cy="3520440"/>
          </a:xfrm>
          <a:prstGeom prst="rect">
            <a:avLst/>
          </a:prstGeom>
          <a:solidFill>
            <a:srgbClr val="1A3A5C"/>
          </a:solidFill>
          <a:ln w="25400">
            <a:solidFill>
              <a:srgbClr val="F0A500"/>
            </a:solidFill>
            <a:prstDash val="dash"/>
          </a:ln>
        </p:spPr>
      </p:sp>
      <p:sp>
        <p:nvSpPr>
          <p:cNvPr id="7" name="Text 5"/>
          <p:cNvSpPr/>
          <p:nvPr/>
        </p:nvSpPr>
        <p:spPr>
          <a:xfrm>
            <a:off x="274320" y="4224528"/>
            <a:ext cx="5303520" cy="182880"/>
          </a:xfrm>
          <a:prstGeom prst="rect">
            <a:avLst/>
          </a:prstGeom>
          <a:noFill/>
          <a:ln/>
        </p:spPr>
        <p:txBody>
          <a:bodyPr wrap="square" lIns="0" tIns="0" rIns="0" bIns="0" rtlCol="0" anchor="ctr"/>
          <a:lstStyle/>
          <a:p>
            <a:pPr marL="0" indent="0" algn="ctr">
              <a:buNone/>
            </a:pPr>
            <a:r>
              <a:rPr lang="en-US" sz="900" dirty="0">
                <a:solidFill>
                  <a:srgbClr val="8BAFC9"/>
                </a:solidFill>
                <a:latin typeface="Calibri" pitchFamily="34" charset="0"/>
                <a:ea typeface="Calibri" pitchFamily="34" charset="-122"/>
                <a:cs typeface="Calibri" pitchFamily="34" charset="-120"/>
              </a:rPr>
              <a:t>QGIS — Shipping / Trade Routes Map</a:t>
            </a:r>
            <a:endParaRPr lang="en-US" sz="900" dirty="0"/>
          </a:p>
        </p:txBody>
      </p:sp>
      <p:sp>
        <p:nvSpPr>
          <p:cNvPr id="8" name="Shape 6"/>
          <p:cNvSpPr/>
          <p:nvPr/>
        </p:nvSpPr>
        <p:spPr>
          <a:xfrm>
            <a:off x="5760720" y="777240"/>
            <a:ext cx="3108960" cy="3520440"/>
          </a:xfrm>
          <a:prstGeom prst="rect">
            <a:avLst/>
          </a:prstGeom>
          <a:solidFill>
            <a:srgbClr val="1C2E44"/>
          </a:solidFill>
          <a:ln/>
          <a:effectLst>
            <a:outerShdw blurRad="101600" dist="38100" dir="8100000" algn="bl" rotWithShape="0">
              <a:srgbClr val="000000">
                <a:alpha val="20000"/>
              </a:srgbClr>
            </a:outerShdw>
          </a:effectLst>
        </p:spPr>
      </p:sp>
      <p:sp>
        <p:nvSpPr>
          <p:cNvPr id="9" name="Text 7"/>
          <p:cNvSpPr/>
          <p:nvPr/>
        </p:nvSpPr>
        <p:spPr>
          <a:xfrm>
            <a:off x="5897880" y="868680"/>
            <a:ext cx="2834640" cy="274320"/>
          </a:xfrm>
          <a:prstGeom prst="rect">
            <a:avLst/>
          </a:prstGeom>
          <a:noFill/>
          <a:ln/>
        </p:spPr>
        <p:txBody>
          <a:bodyPr wrap="square" lIns="0" tIns="0" rIns="0" bIns="0" rtlCol="0" anchor="ctr"/>
          <a:lstStyle/>
          <a:p>
            <a:pPr marL="0" indent="0">
              <a:buNone/>
            </a:pPr>
            <a:r>
              <a:rPr lang="en-US" sz="1200" b="1" dirty="0">
                <a:solidFill>
                  <a:srgbClr val="F0A500"/>
                </a:solidFill>
                <a:latin typeface="Calibri" pitchFamily="34" charset="0"/>
                <a:ea typeface="Calibri" pitchFamily="34" charset="-122"/>
                <a:cs typeface="Calibri" pitchFamily="34" charset="-120"/>
              </a:rPr>
              <a:t>What Our Map Shows</a:t>
            </a:r>
            <a:endParaRPr lang="en-US" sz="1200" dirty="0"/>
          </a:p>
        </p:txBody>
      </p:sp>
      <p:sp>
        <p:nvSpPr>
          <p:cNvPr id="10" name="Shape 8"/>
          <p:cNvSpPr/>
          <p:nvPr/>
        </p:nvSpPr>
        <p:spPr>
          <a:xfrm>
            <a:off x="5897880" y="1261872"/>
            <a:ext cx="54864" cy="411480"/>
          </a:xfrm>
          <a:prstGeom prst="rect">
            <a:avLst/>
          </a:prstGeom>
          <a:solidFill>
            <a:srgbClr val="3498DB"/>
          </a:solidFill>
          <a:ln/>
        </p:spPr>
      </p:sp>
      <p:sp>
        <p:nvSpPr>
          <p:cNvPr id="11" name="Text 9"/>
          <p:cNvSpPr/>
          <p:nvPr/>
        </p:nvSpPr>
        <p:spPr>
          <a:xfrm>
            <a:off x="6035040" y="125272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All shipping lanes in our map converge at one single narrow point — the Strait. There is no alternative visible route.</a:t>
            </a:r>
            <a:endParaRPr lang="en-US" sz="950" dirty="0"/>
          </a:p>
        </p:txBody>
      </p:sp>
      <p:sp>
        <p:nvSpPr>
          <p:cNvPr id="12" name="Shape 10"/>
          <p:cNvSpPr/>
          <p:nvPr/>
        </p:nvSpPr>
        <p:spPr>
          <a:xfrm>
            <a:off x="5897880" y="1810512"/>
            <a:ext cx="54864" cy="411480"/>
          </a:xfrm>
          <a:prstGeom prst="rect">
            <a:avLst/>
          </a:prstGeom>
          <a:solidFill>
            <a:srgbClr val="3498DB"/>
          </a:solidFill>
          <a:ln/>
        </p:spPr>
      </p:sp>
      <p:sp>
        <p:nvSpPr>
          <p:cNvPr id="13" name="Text 11"/>
          <p:cNvSpPr/>
          <p:nvPr/>
        </p:nvSpPr>
        <p:spPr>
          <a:xfrm>
            <a:off x="6035040" y="180136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Major ports (Bandar Abbas, Dubai, Muscat, Abu Dhabi) all connect through this single corridor.</a:t>
            </a:r>
            <a:endParaRPr lang="en-US" sz="950" dirty="0"/>
          </a:p>
        </p:txBody>
      </p:sp>
      <p:sp>
        <p:nvSpPr>
          <p:cNvPr id="14" name="Shape 12"/>
          <p:cNvSpPr/>
          <p:nvPr/>
        </p:nvSpPr>
        <p:spPr>
          <a:xfrm>
            <a:off x="5897880" y="2359152"/>
            <a:ext cx="54864" cy="411480"/>
          </a:xfrm>
          <a:prstGeom prst="rect">
            <a:avLst/>
          </a:prstGeom>
          <a:solidFill>
            <a:srgbClr val="3498DB"/>
          </a:solidFill>
          <a:ln/>
        </p:spPr>
      </p:sp>
      <p:sp>
        <p:nvSpPr>
          <p:cNvPr id="15" name="Text 13"/>
          <p:cNvSpPr/>
          <p:nvPr/>
        </p:nvSpPr>
        <p:spPr>
          <a:xfrm>
            <a:off x="6035040" y="235000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The traffic separation scheme shows inbound and outbound lanes only ~3 km wide each — confirmed by our QGIS measurement.</a:t>
            </a:r>
            <a:endParaRPr lang="en-US" sz="950" dirty="0"/>
          </a:p>
        </p:txBody>
      </p:sp>
      <p:sp>
        <p:nvSpPr>
          <p:cNvPr id="16" name="Shape 14"/>
          <p:cNvSpPr/>
          <p:nvPr/>
        </p:nvSpPr>
        <p:spPr>
          <a:xfrm>
            <a:off x="5897880" y="2907792"/>
            <a:ext cx="54864" cy="411480"/>
          </a:xfrm>
          <a:prstGeom prst="rect">
            <a:avLst/>
          </a:prstGeom>
          <a:solidFill>
            <a:srgbClr val="3498DB"/>
          </a:solidFill>
          <a:ln/>
        </p:spPr>
      </p:sp>
      <p:sp>
        <p:nvSpPr>
          <p:cNvPr id="17" name="Text 15"/>
          <p:cNvSpPr/>
          <p:nvPr/>
        </p:nvSpPr>
        <p:spPr>
          <a:xfrm>
            <a:off x="6035040" y="289864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Our digitized shipping lane clearly demonstrates why geographers call this a 'chokepoint' — a geographic bottleneck.</a:t>
            </a:r>
            <a:endParaRPr lang="en-US" sz="950" dirty="0"/>
          </a:p>
        </p:txBody>
      </p:sp>
      <p:sp>
        <p:nvSpPr>
          <p:cNvPr id="18" name="Shape 16"/>
          <p:cNvSpPr/>
          <p:nvPr/>
        </p:nvSpPr>
        <p:spPr>
          <a:xfrm>
            <a:off x="0" y="4892040"/>
            <a:ext cx="9144000" cy="251460"/>
          </a:xfrm>
          <a:prstGeom prst="rect">
            <a:avLst/>
          </a:prstGeom>
          <a:solidFill>
            <a:srgbClr val="0A1628"/>
          </a:solidFill>
          <a:ln/>
        </p:spPr>
      </p:sp>
      <p:sp>
        <p:nvSpPr>
          <p:cNvPr id="19" name="Text 17"/>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DIVA-GIS ports shapefile | Shipping lane digitized in QGIS  |  GIS Project — Strait of Hormuz  |  April 2026</a:t>
            </a:r>
            <a:endParaRPr lang="en-US" sz="900" dirty="0"/>
          </a:p>
        </p:txBody>
      </p:sp>
      <p:pic>
        <p:nvPicPr>
          <p:cNvPr id="22" name="Picture 21">
            <a:extLst>
              <a:ext uri="{FF2B5EF4-FFF2-40B4-BE49-F238E27FC236}">
                <a16:creationId xmlns:a16="http://schemas.microsoft.com/office/drawing/2014/main" id="{C2649E9C-A180-26DA-37DC-0927FD35ED02}"/>
              </a:ext>
            </a:extLst>
          </p:cNvPr>
          <p:cNvPicPr>
            <a:picLocks noChangeAspect="1"/>
          </p:cNvPicPr>
          <p:nvPr/>
        </p:nvPicPr>
        <p:blipFill>
          <a:blip r:embed="rId3"/>
          <a:stretch>
            <a:fillRect/>
          </a:stretch>
        </p:blipFill>
        <p:spPr>
          <a:xfrm>
            <a:off x="274320" y="758952"/>
            <a:ext cx="5353289" cy="37856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05 — Global Shipping Routes from the Strait</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Where the Oil Goes</a:t>
            </a:r>
            <a:endParaRPr lang="en-US" sz="1200" dirty="0"/>
          </a:p>
        </p:txBody>
      </p:sp>
      <p:pic>
        <p:nvPicPr>
          <p:cNvPr id="5" name="Image 0" descr="/home/claude/hormuz_pptx/trade_routes.png"/>
          <p:cNvPicPr>
            <a:picLocks noChangeAspect="1"/>
          </p:cNvPicPr>
          <p:nvPr/>
        </p:nvPicPr>
        <p:blipFill>
          <a:blip r:embed="rId3"/>
          <a:stretch>
            <a:fillRect/>
          </a:stretch>
        </p:blipFill>
        <p:spPr>
          <a:xfrm>
            <a:off x="297180" y="877193"/>
            <a:ext cx="5669280" cy="3520440"/>
          </a:xfrm>
          <a:prstGeom prst="rect">
            <a:avLst/>
          </a:prstGeom>
          <a:effectLst>
            <a:outerShdw blurRad="101600" dist="38100" dir="8100000" algn="bl" rotWithShape="0">
              <a:srgbClr val="000000">
                <a:alpha val="20000"/>
              </a:srgbClr>
            </a:outerShdw>
          </a:effectLst>
        </p:spPr>
      </p:pic>
      <p:sp>
        <p:nvSpPr>
          <p:cNvPr id="6" name="Shape 3"/>
          <p:cNvSpPr/>
          <p:nvPr/>
        </p:nvSpPr>
        <p:spPr>
          <a:xfrm>
            <a:off x="6126480" y="777240"/>
            <a:ext cx="2743200" cy="3520440"/>
          </a:xfrm>
          <a:prstGeom prst="rect">
            <a:avLst/>
          </a:prstGeom>
          <a:solidFill>
            <a:srgbClr val="1C2E44"/>
          </a:solidFill>
          <a:ln/>
          <a:effectLst>
            <a:outerShdw blurRad="101600" dist="38100" dir="8100000" algn="bl" rotWithShape="0">
              <a:srgbClr val="000000">
                <a:alpha val="20000"/>
              </a:srgbClr>
            </a:outerShdw>
          </a:effectLst>
        </p:spPr>
      </p:sp>
      <p:sp>
        <p:nvSpPr>
          <p:cNvPr id="7" name="Text 4"/>
          <p:cNvSpPr/>
          <p:nvPr/>
        </p:nvSpPr>
        <p:spPr>
          <a:xfrm>
            <a:off x="6263640" y="868680"/>
            <a:ext cx="2468880" cy="274320"/>
          </a:xfrm>
          <a:prstGeom prst="rect">
            <a:avLst/>
          </a:prstGeom>
          <a:noFill/>
          <a:ln/>
        </p:spPr>
        <p:txBody>
          <a:bodyPr wrap="square" lIns="0" tIns="0" rIns="0" bIns="0" rtlCol="0" anchor="ctr"/>
          <a:lstStyle/>
          <a:p>
            <a:pPr marL="0" indent="0">
              <a:buNone/>
            </a:pPr>
            <a:r>
              <a:rPr lang="en-US" sz="1200" b="1" dirty="0">
                <a:solidFill>
                  <a:srgbClr val="F0A500"/>
                </a:solidFill>
                <a:latin typeface="Calibri" pitchFamily="34" charset="0"/>
                <a:ea typeface="Calibri" pitchFamily="34" charset="-122"/>
                <a:cs typeface="Calibri" pitchFamily="34" charset="-120"/>
              </a:rPr>
              <a:t>Destination Regions</a:t>
            </a:r>
            <a:endParaRPr lang="en-US" sz="1200" dirty="0"/>
          </a:p>
        </p:txBody>
      </p:sp>
      <p:sp>
        <p:nvSpPr>
          <p:cNvPr id="8" name="Shape 5"/>
          <p:cNvSpPr/>
          <p:nvPr/>
        </p:nvSpPr>
        <p:spPr>
          <a:xfrm>
            <a:off x="6263640" y="1261872"/>
            <a:ext cx="2560320" cy="685800"/>
          </a:xfrm>
          <a:prstGeom prst="rect">
            <a:avLst/>
          </a:prstGeom>
          <a:solidFill>
            <a:srgbClr val="1A3A5C"/>
          </a:solidFill>
          <a:ln/>
        </p:spPr>
      </p:sp>
      <p:sp>
        <p:nvSpPr>
          <p:cNvPr id="9" name="Shape 6"/>
          <p:cNvSpPr/>
          <p:nvPr/>
        </p:nvSpPr>
        <p:spPr>
          <a:xfrm>
            <a:off x="6263640" y="1261872"/>
            <a:ext cx="64008" cy="685800"/>
          </a:xfrm>
          <a:prstGeom prst="rect">
            <a:avLst/>
          </a:prstGeom>
          <a:solidFill>
            <a:srgbClr val="E74C3C"/>
          </a:solidFill>
          <a:ln/>
        </p:spPr>
      </p:sp>
      <p:sp>
        <p:nvSpPr>
          <p:cNvPr id="10" name="Text 7"/>
          <p:cNvSpPr/>
          <p:nvPr/>
        </p:nvSpPr>
        <p:spPr>
          <a:xfrm>
            <a:off x="6419088" y="1307592"/>
            <a:ext cx="2286000" cy="274320"/>
          </a:xfrm>
          <a:prstGeom prst="rect">
            <a:avLst/>
          </a:prstGeom>
          <a:noFill/>
          <a:ln/>
        </p:spPr>
        <p:txBody>
          <a:bodyPr wrap="square" lIns="0" tIns="0" rIns="0" bIns="0" rtlCol="0" anchor="ctr"/>
          <a:lstStyle/>
          <a:p>
            <a:pPr marL="0" indent="0">
              <a:buNone/>
            </a:pPr>
            <a:r>
              <a:rPr lang="en-US" sz="1100" b="1" dirty="0">
                <a:solidFill>
                  <a:srgbClr val="E74C3C"/>
                </a:solidFill>
                <a:latin typeface="Calibri" pitchFamily="34" charset="0"/>
                <a:ea typeface="Calibri" pitchFamily="34" charset="-122"/>
                <a:cs typeface="Calibri" pitchFamily="34" charset="-120"/>
              </a:rPr>
              <a:t>Asia-Pacific</a:t>
            </a:r>
            <a:endParaRPr lang="en-US" sz="1100" dirty="0"/>
          </a:p>
        </p:txBody>
      </p:sp>
      <p:sp>
        <p:nvSpPr>
          <p:cNvPr id="11" name="Text 8"/>
          <p:cNvSpPr/>
          <p:nvPr/>
        </p:nvSpPr>
        <p:spPr>
          <a:xfrm>
            <a:off x="6419088" y="1581912"/>
            <a:ext cx="2286000" cy="292608"/>
          </a:xfrm>
          <a:prstGeom prst="rect">
            <a:avLst/>
          </a:prstGeom>
          <a:noFill/>
          <a:ln/>
        </p:spPr>
        <p:txBody>
          <a:bodyPr wrap="square" lIns="0" tIns="0" rIns="0" bIns="0" rtlCol="0" anchor="ctr"/>
          <a:lstStyle/>
          <a:p>
            <a:pPr marL="0" indent="0">
              <a:buNone/>
            </a:pPr>
            <a:r>
              <a:rPr lang="en-US" sz="950" dirty="0">
                <a:solidFill>
                  <a:srgbClr val="A8C4D8"/>
                </a:solidFill>
                <a:latin typeface="Calibri" pitchFamily="34" charset="0"/>
                <a:ea typeface="Calibri" pitchFamily="34" charset="-122"/>
                <a:cs typeface="Calibri" pitchFamily="34" charset="-120"/>
              </a:rPr>
              <a:t>Japan, China, South Korea, India</a:t>
            </a:r>
            <a:endParaRPr lang="en-US" sz="950" dirty="0"/>
          </a:p>
        </p:txBody>
      </p:sp>
      <p:sp>
        <p:nvSpPr>
          <p:cNvPr id="12" name="Shape 9"/>
          <p:cNvSpPr/>
          <p:nvPr/>
        </p:nvSpPr>
        <p:spPr>
          <a:xfrm>
            <a:off x="6263640" y="2066544"/>
            <a:ext cx="2560320" cy="685800"/>
          </a:xfrm>
          <a:prstGeom prst="rect">
            <a:avLst/>
          </a:prstGeom>
          <a:solidFill>
            <a:srgbClr val="1A3A5C"/>
          </a:solidFill>
          <a:ln/>
        </p:spPr>
      </p:sp>
      <p:sp>
        <p:nvSpPr>
          <p:cNvPr id="13" name="Shape 10"/>
          <p:cNvSpPr/>
          <p:nvPr/>
        </p:nvSpPr>
        <p:spPr>
          <a:xfrm>
            <a:off x="6263640" y="2066544"/>
            <a:ext cx="64008" cy="685800"/>
          </a:xfrm>
          <a:prstGeom prst="rect">
            <a:avLst/>
          </a:prstGeom>
          <a:solidFill>
            <a:srgbClr val="F0A500"/>
          </a:solidFill>
          <a:ln/>
        </p:spPr>
      </p:sp>
      <p:sp>
        <p:nvSpPr>
          <p:cNvPr id="14" name="Text 11"/>
          <p:cNvSpPr/>
          <p:nvPr/>
        </p:nvSpPr>
        <p:spPr>
          <a:xfrm>
            <a:off x="6419088" y="2112264"/>
            <a:ext cx="2286000" cy="274320"/>
          </a:xfrm>
          <a:prstGeom prst="rect">
            <a:avLst/>
          </a:prstGeom>
          <a:noFill/>
          <a:ln/>
        </p:spPr>
        <p:txBody>
          <a:bodyPr wrap="square" lIns="0" tIns="0" rIns="0" bIns="0"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Europe</a:t>
            </a:r>
            <a:endParaRPr lang="en-US" sz="1100" dirty="0"/>
          </a:p>
        </p:txBody>
      </p:sp>
      <p:sp>
        <p:nvSpPr>
          <p:cNvPr id="15" name="Text 12"/>
          <p:cNvSpPr/>
          <p:nvPr/>
        </p:nvSpPr>
        <p:spPr>
          <a:xfrm>
            <a:off x="6419088" y="2386584"/>
            <a:ext cx="2286000" cy="292608"/>
          </a:xfrm>
          <a:prstGeom prst="rect">
            <a:avLst/>
          </a:prstGeom>
          <a:noFill/>
          <a:ln/>
        </p:spPr>
        <p:txBody>
          <a:bodyPr wrap="square" lIns="0" tIns="0" rIns="0" bIns="0" rtlCol="0" anchor="ctr"/>
          <a:lstStyle/>
          <a:p>
            <a:pPr marL="0" indent="0">
              <a:buNone/>
            </a:pPr>
            <a:r>
              <a:rPr lang="en-US" sz="950" dirty="0">
                <a:solidFill>
                  <a:srgbClr val="A8C4D8"/>
                </a:solidFill>
                <a:latin typeface="Calibri" pitchFamily="34" charset="0"/>
                <a:ea typeface="Calibri" pitchFamily="34" charset="-122"/>
                <a:cs typeface="Calibri" pitchFamily="34" charset="-120"/>
              </a:rPr>
              <a:t>Via Suez Canal — Spain, France, Italy</a:t>
            </a:r>
            <a:endParaRPr lang="en-US" sz="950" dirty="0"/>
          </a:p>
        </p:txBody>
      </p:sp>
      <p:sp>
        <p:nvSpPr>
          <p:cNvPr id="16" name="Shape 13"/>
          <p:cNvSpPr/>
          <p:nvPr/>
        </p:nvSpPr>
        <p:spPr>
          <a:xfrm>
            <a:off x="6263640" y="2871216"/>
            <a:ext cx="2560320" cy="685800"/>
          </a:xfrm>
          <a:prstGeom prst="rect">
            <a:avLst/>
          </a:prstGeom>
          <a:solidFill>
            <a:srgbClr val="1A3A5C"/>
          </a:solidFill>
          <a:ln/>
        </p:spPr>
      </p:sp>
      <p:sp>
        <p:nvSpPr>
          <p:cNvPr id="17" name="Shape 14"/>
          <p:cNvSpPr/>
          <p:nvPr/>
        </p:nvSpPr>
        <p:spPr>
          <a:xfrm>
            <a:off x="6263640" y="2871216"/>
            <a:ext cx="64008" cy="685800"/>
          </a:xfrm>
          <a:prstGeom prst="rect">
            <a:avLst/>
          </a:prstGeom>
          <a:solidFill>
            <a:srgbClr val="3498DB"/>
          </a:solidFill>
          <a:ln/>
        </p:spPr>
      </p:sp>
      <p:sp>
        <p:nvSpPr>
          <p:cNvPr id="18" name="Text 15"/>
          <p:cNvSpPr/>
          <p:nvPr/>
        </p:nvSpPr>
        <p:spPr>
          <a:xfrm>
            <a:off x="6419088" y="2916936"/>
            <a:ext cx="2286000" cy="274320"/>
          </a:xfrm>
          <a:prstGeom prst="rect">
            <a:avLst/>
          </a:prstGeom>
          <a:noFill/>
          <a:ln/>
        </p:spPr>
        <p:txBody>
          <a:bodyPr wrap="square" lIns="0" tIns="0" rIns="0" bIns="0" rtlCol="0" anchor="ctr"/>
          <a:lstStyle/>
          <a:p>
            <a:pPr marL="0" indent="0">
              <a:buNone/>
            </a:pPr>
            <a:r>
              <a:rPr lang="en-US" sz="1100" b="1" dirty="0">
                <a:solidFill>
                  <a:srgbClr val="3498DB"/>
                </a:solidFill>
                <a:latin typeface="Calibri" pitchFamily="34" charset="0"/>
                <a:ea typeface="Calibri" pitchFamily="34" charset="-122"/>
                <a:cs typeface="Calibri" pitchFamily="34" charset="-120"/>
              </a:rPr>
              <a:t>Americas</a:t>
            </a:r>
            <a:endParaRPr lang="en-US" sz="1100" dirty="0"/>
          </a:p>
        </p:txBody>
      </p:sp>
      <p:sp>
        <p:nvSpPr>
          <p:cNvPr id="19" name="Text 16"/>
          <p:cNvSpPr/>
          <p:nvPr/>
        </p:nvSpPr>
        <p:spPr>
          <a:xfrm>
            <a:off x="6419088" y="3191256"/>
            <a:ext cx="2286000" cy="292608"/>
          </a:xfrm>
          <a:prstGeom prst="rect">
            <a:avLst/>
          </a:prstGeom>
          <a:noFill/>
          <a:ln/>
        </p:spPr>
        <p:txBody>
          <a:bodyPr wrap="square" lIns="0" tIns="0" rIns="0" bIns="0" rtlCol="0" anchor="ctr"/>
          <a:lstStyle/>
          <a:p>
            <a:pPr marL="0" indent="0">
              <a:buNone/>
            </a:pPr>
            <a:r>
              <a:rPr lang="en-US" sz="950" dirty="0">
                <a:solidFill>
                  <a:srgbClr val="A8C4D8"/>
                </a:solidFill>
                <a:latin typeface="Calibri" pitchFamily="34" charset="0"/>
                <a:ea typeface="Calibri" pitchFamily="34" charset="-122"/>
                <a:cs typeface="Calibri" pitchFamily="34" charset="-120"/>
              </a:rPr>
              <a:t>Via Cape of Good Hope (longer)</a:t>
            </a:r>
            <a:endParaRPr lang="en-US" sz="950" dirty="0"/>
          </a:p>
        </p:txBody>
      </p:sp>
      <p:sp>
        <p:nvSpPr>
          <p:cNvPr id="20" name="Shape 17"/>
          <p:cNvSpPr/>
          <p:nvPr/>
        </p:nvSpPr>
        <p:spPr>
          <a:xfrm>
            <a:off x="6263640" y="3703320"/>
            <a:ext cx="2560320" cy="457200"/>
          </a:xfrm>
          <a:prstGeom prst="rect">
            <a:avLst/>
          </a:prstGeom>
          <a:solidFill>
            <a:srgbClr val="0D2137"/>
          </a:solidFill>
          <a:ln/>
        </p:spPr>
      </p:sp>
      <p:sp>
        <p:nvSpPr>
          <p:cNvPr id="21" name="Text 18"/>
          <p:cNvSpPr/>
          <p:nvPr/>
        </p:nvSpPr>
        <p:spPr>
          <a:xfrm>
            <a:off x="6309360" y="3721608"/>
            <a:ext cx="2468880" cy="402336"/>
          </a:xfrm>
          <a:prstGeom prst="rect">
            <a:avLst/>
          </a:prstGeom>
          <a:noFill/>
          <a:ln/>
        </p:spPr>
        <p:txBody>
          <a:bodyPr wrap="square" lIns="0" tIns="0" rIns="0" bIns="0" rtlCol="0" anchor="ctr"/>
          <a:lstStyle/>
          <a:p>
            <a:pPr marL="0" indent="0">
              <a:buNone/>
            </a:pPr>
            <a:r>
              <a:rPr lang="en-US" sz="950" i="1" dirty="0">
                <a:solidFill>
                  <a:srgbClr val="D6E4F0"/>
                </a:solidFill>
                <a:latin typeface="Calibri" pitchFamily="34" charset="0"/>
                <a:ea typeface="Calibri" pitchFamily="34" charset="-122"/>
                <a:cs typeface="Calibri" pitchFamily="34" charset="-120"/>
              </a:rPr>
              <a:t>Asia-Pacific receives ~70%</a:t>
            </a:r>
            <a:endParaRPr lang="en-US" sz="950" dirty="0"/>
          </a:p>
          <a:p>
            <a:pPr marL="0" indent="0">
              <a:buNone/>
            </a:pPr>
            <a:r>
              <a:rPr lang="en-US" sz="950" i="1" dirty="0">
                <a:solidFill>
                  <a:srgbClr val="D6E4F0"/>
                </a:solidFill>
                <a:latin typeface="Calibri" pitchFamily="34" charset="0"/>
                <a:ea typeface="Calibri" pitchFamily="34" charset="-122"/>
                <a:cs typeface="Calibri" pitchFamily="34" charset="-120"/>
              </a:rPr>
              <a:t>of Hormuz oil exports</a:t>
            </a:r>
            <a:endParaRPr lang="en-US" sz="950" dirty="0"/>
          </a:p>
        </p:txBody>
      </p:sp>
      <p:sp>
        <p:nvSpPr>
          <p:cNvPr id="22" name="Shape 19"/>
          <p:cNvSpPr/>
          <p:nvPr/>
        </p:nvSpPr>
        <p:spPr>
          <a:xfrm>
            <a:off x="0" y="4892040"/>
            <a:ext cx="9144000" cy="251460"/>
          </a:xfrm>
          <a:prstGeom prst="rect">
            <a:avLst/>
          </a:prstGeom>
          <a:solidFill>
            <a:srgbClr val="0A1628"/>
          </a:solidFill>
          <a:ln/>
        </p:spPr>
      </p:sp>
      <p:sp>
        <p:nvSpPr>
          <p:cNvPr id="23" name="Text 20"/>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U.S. EIA | International Energy Agency (IEA)  |  GIS Project — Strait of Hormuz  |  April 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r>
              <a:rPr lang="en-US" sz="2200" b="1" dirty="0">
                <a:solidFill>
                  <a:srgbClr val="FFFFFF"/>
                </a:solidFill>
                <a:latin typeface="Calibri" pitchFamily="34" charset="0"/>
                <a:ea typeface="Calibri" pitchFamily="34" charset="-122"/>
                <a:cs typeface="Calibri" pitchFamily="34" charset="-120"/>
              </a:rPr>
              <a:t>06 —</a:t>
            </a:r>
            <a:r>
              <a:rPr lang="en-US" sz="2400" b="1" dirty="0">
                <a:solidFill>
                  <a:schemeClr val="bg1"/>
                </a:solidFill>
              </a:rPr>
              <a:t>Elevation</a:t>
            </a:r>
            <a:r>
              <a:rPr lang="en-US" sz="2200" b="1" dirty="0">
                <a:solidFill>
                  <a:srgbClr val="FFFFFF"/>
                </a:solidFill>
                <a:latin typeface="Calibri" pitchFamily="34" charset="0"/>
                <a:ea typeface="Calibri" pitchFamily="34" charset="-122"/>
                <a:cs typeface="Calibri" pitchFamily="34" charset="-120"/>
              </a:rPr>
              <a:t> Map</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Map 4 Analysis</a:t>
            </a:r>
            <a:endParaRPr lang="en-US" sz="1200" dirty="0"/>
          </a:p>
        </p:txBody>
      </p:sp>
      <p:sp>
        <p:nvSpPr>
          <p:cNvPr id="5" name="Shape 3"/>
          <p:cNvSpPr/>
          <p:nvPr/>
        </p:nvSpPr>
        <p:spPr>
          <a:xfrm>
            <a:off x="274320" y="777240"/>
            <a:ext cx="5303520" cy="3520440"/>
          </a:xfrm>
          <a:prstGeom prst="rect">
            <a:avLst/>
          </a:prstGeom>
          <a:solidFill>
            <a:srgbClr val="1A3A5C"/>
          </a:solidFill>
          <a:ln w="25400">
            <a:solidFill>
              <a:srgbClr val="F0A500"/>
            </a:solidFill>
            <a:prstDash val="dash"/>
          </a:ln>
        </p:spPr>
      </p:sp>
      <p:sp>
        <p:nvSpPr>
          <p:cNvPr id="7" name="Text 5"/>
          <p:cNvSpPr/>
          <p:nvPr/>
        </p:nvSpPr>
        <p:spPr>
          <a:xfrm>
            <a:off x="274320" y="4503420"/>
            <a:ext cx="5303520" cy="182880"/>
          </a:xfrm>
          <a:prstGeom prst="rect">
            <a:avLst/>
          </a:prstGeom>
          <a:noFill/>
          <a:ln/>
        </p:spPr>
        <p:txBody>
          <a:bodyPr wrap="square" lIns="0" tIns="0" rIns="0" bIns="0" rtlCol="0" anchor="ctr"/>
          <a:lstStyle/>
          <a:p>
            <a:pPr marL="0" indent="0" algn="ctr">
              <a:buNone/>
            </a:pPr>
            <a:r>
              <a:rPr lang="en-US" sz="900" dirty="0">
                <a:solidFill>
                  <a:srgbClr val="8BAFC9"/>
                </a:solidFill>
                <a:latin typeface="Calibri" pitchFamily="34" charset="0"/>
                <a:ea typeface="Calibri" pitchFamily="34" charset="-122"/>
                <a:cs typeface="Calibri" pitchFamily="34" charset="-120"/>
              </a:rPr>
              <a:t>QGIS — Population Density (YlOrRd ramp | Iran + Oman merged raster)</a:t>
            </a:r>
            <a:endParaRPr lang="en-US" sz="900" dirty="0"/>
          </a:p>
        </p:txBody>
      </p:sp>
      <p:sp>
        <p:nvSpPr>
          <p:cNvPr id="8" name="Shape 6"/>
          <p:cNvSpPr/>
          <p:nvPr/>
        </p:nvSpPr>
        <p:spPr>
          <a:xfrm>
            <a:off x="5760720" y="777240"/>
            <a:ext cx="3108960" cy="3520440"/>
          </a:xfrm>
          <a:prstGeom prst="rect">
            <a:avLst/>
          </a:prstGeom>
          <a:solidFill>
            <a:srgbClr val="1C2E44"/>
          </a:solidFill>
          <a:ln/>
          <a:effectLst>
            <a:outerShdw blurRad="101600" dist="38100" dir="8100000" algn="bl" rotWithShape="0">
              <a:srgbClr val="000000">
                <a:alpha val="20000"/>
              </a:srgbClr>
            </a:outerShdw>
          </a:effectLst>
        </p:spPr>
      </p:sp>
      <p:sp>
        <p:nvSpPr>
          <p:cNvPr id="9" name="Text 7"/>
          <p:cNvSpPr/>
          <p:nvPr/>
        </p:nvSpPr>
        <p:spPr>
          <a:xfrm>
            <a:off x="5897880" y="868680"/>
            <a:ext cx="2834640" cy="274320"/>
          </a:xfrm>
          <a:prstGeom prst="rect">
            <a:avLst/>
          </a:prstGeom>
          <a:noFill/>
          <a:ln/>
        </p:spPr>
        <p:txBody>
          <a:bodyPr wrap="square" lIns="0" tIns="0" rIns="0" bIns="0" rtlCol="0" anchor="ctr"/>
          <a:lstStyle/>
          <a:p>
            <a:pPr marL="0" indent="0">
              <a:buNone/>
            </a:pPr>
            <a:r>
              <a:rPr lang="en-US" sz="1200" b="1" dirty="0">
                <a:solidFill>
                  <a:srgbClr val="F0A500"/>
                </a:solidFill>
                <a:latin typeface="Calibri" pitchFamily="34" charset="0"/>
                <a:ea typeface="Calibri" pitchFamily="34" charset="-122"/>
                <a:cs typeface="Calibri" pitchFamily="34" charset="-120"/>
              </a:rPr>
              <a:t>What Our Map Shows</a:t>
            </a:r>
            <a:endParaRPr lang="en-US" sz="1200" dirty="0"/>
          </a:p>
        </p:txBody>
      </p:sp>
      <p:sp>
        <p:nvSpPr>
          <p:cNvPr id="10" name="Shape 8"/>
          <p:cNvSpPr/>
          <p:nvPr/>
        </p:nvSpPr>
        <p:spPr>
          <a:xfrm>
            <a:off x="5897880" y="1261872"/>
            <a:ext cx="54864" cy="411480"/>
          </a:xfrm>
          <a:prstGeom prst="rect">
            <a:avLst/>
          </a:prstGeom>
          <a:solidFill>
            <a:srgbClr val="F0A500"/>
          </a:solidFill>
          <a:ln/>
        </p:spPr>
      </p:sp>
      <p:sp>
        <p:nvSpPr>
          <p:cNvPr id="11" name="Text 9"/>
          <p:cNvSpPr/>
          <p:nvPr/>
        </p:nvSpPr>
        <p:spPr>
          <a:xfrm>
            <a:off x="6035040" y="125272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Dark red (high density) areas cluster tightly along the Gulf coastline — Tehran, Mashhad and Muscat all show as dense zones.</a:t>
            </a:r>
            <a:endParaRPr lang="en-US" sz="950" dirty="0"/>
          </a:p>
        </p:txBody>
      </p:sp>
      <p:sp>
        <p:nvSpPr>
          <p:cNvPr id="12" name="Shape 10"/>
          <p:cNvSpPr/>
          <p:nvPr/>
        </p:nvSpPr>
        <p:spPr>
          <a:xfrm>
            <a:off x="5897880" y="1810512"/>
            <a:ext cx="54864" cy="411480"/>
          </a:xfrm>
          <a:prstGeom prst="rect">
            <a:avLst/>
          </a:prstGeom>
          <a:solidFill>
            <a:srgbClr val="F0A500"/>
          </a:solidFill>
          <a:ln/>
        </p:spPr>
      </p:sp>
      <p:sp>
        <p:nvSpPr>
          <p:cNvPr id="13" name="Text 11"/>
          <p:cNvSpPr/>
          <p:nvPr/>
        </p:nvSpPr>
        <p:spPr>
          <a:xfrm>
            <a:off x="6035040" y="180136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Interior desert regions appear yellow/pale — very low population — confirming the Rub' al Khali desert is uninhabited.</a:t>
            </a:r>
            <a:endParaRPr lang="en-US" sz="950" dirty="0"/>
          </a:p>
        </p:txBody>
      </p:sp>
      <p:sp>
        <p:nvSpPr>
          <p:cNvPr id="14" name="Shape 12"/>
          <p:cNvSpPr/>
          <p:nvPr/>
        </p:nvSpPr>
        <p:spPr>
          <a:xfrm>
            <a:off x="5897880" y="2359152"/>
            <a:ext cx="54864" cy="411480"/>
          </a:xfrm>
          <a:prstGeom prst="rect">
            <a:avLst/>
          </a:prstGeom>
          <a:solidFill>
            <a:srgbClr val="F0A500"/>
          </a:solidFill>
          <a:ln/>
        </p:spPr>
      </p:sp>
      <p:sp>
        <p:nvSpPr>
          <p:cNvPr id="15" name="Text 13"/>
          <p:cNvSpPr/>
          <p:nvPr/>
        </p:nvSpPr>
        <p:spPr>
          <a:xfrm>
            <a:off x="6035040" y="235000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Coastal concentration shows these populations are directly connected to and dependent on Strait maritime trade.</a:t>
            </a:r>
            <a:endParaRPr lang="en-US" sz="950" dirty="0"/>
          </a:p>
        </p:txBody>
      </p:sp>
      <p:sp>
        <p:nvSpPr>
          <p:cNvPr id="16" name="Shape 14"/>
          <p:cNvSpPr/>
          <p:nvPr/>
        </p:nvSpPr>
        <p:spPr>
          <a:xfrm>
            <a:off x="5897880" y="2907792"/>
            <a:ext cx="54864" cy="411480"/>
          </a:xfrm>
          <a:prstGeom prst="rect">
            <a:avLst/>
          </a:prstGeom>
          <a:solidFill>
            <a:srgbClr val="F0A500"/>
          </a:solidFill>
          <a:ln/>
        </p:spPr>
      </p:sp>
      <p:sp>
        <p:nvSpPr>
          <p:cNvPr id="17" name="Text 15"/>
          <p:cNvSpPr/>
          <p:nvPr/>
        </p:nvSpPr>
        <p:spPr>
          <a:xfrm>
            <a:off x="6035040" y="2898648"/>
            <a:ext cx="2697480" cy="475488"/>
          </a:xfrm>
          <a:prstGeom prst="rect">
            <a:avLst/>
          </a:prstGeom>
          <a:noFill/>
          <a:ln/>
        </p:spPr>
        <p:txBody>
          <a:bodyPr wrap="square" lIns="0" tIns="0" rIns="0" bIns="0" rtlCol="0" anchor="ctr"/>
          <a:lstStyle/>
          <a:p>
            <a:pPr marL="0" indent="0">
              <a:buNone/>
            </a:pPr>
            <a:r>
              <a:rPr lang="en-US" sz="950" dirty="0">
                <a:solidFill>
                  <a:srgbClr val="D6E4F0"/>
                </a:solidFill>
                <a:latin typeface="Calibri" pitchFamily="34" charset="0"/>
                <a:ea typeface="Calibri" pitchFamily="34" charset="-122"/>
                <a:cs typeface="Calibri" pitchFamily="34" charset="-120"/>
              </a:rPr>
              <a:t>Elevation raster from same DIVA-GIS data confirms mountainous terrain in northern Iran — Zagros range visible.</a:t>
            </a:r>
            <a:endParaRPr lang="en-US" sz="950" dirty="0"/>
          </a:p>
        </p:txBody>
      </p:sp>
      <p:sp>
        <p:nvSpPr>
          <p:cNvPr id="18" name="Shape 16"/>
          <p:cNvSpPr/>
          <p:nvPr/>
        </p:nvSpPr>
        <p:spPr>
          <a:xfrm>
            <a:off x="0" y="4892040"/>
            <a:ext cx="9144000" cy="251460"/>
          </a:xfrm>
          <a:prstGeom prst="rect">
            <a:avLst/>
          </a:prstGeom>
          <a:solidFill>
            <a:srgbClr val="0A1628"/>
          </a:solidFill>
          <a:ln/>
        </p:spPr>
      </p:sp>
      <p:sp>
        <p:nvSpPr>
          <p:cNvPr id="19" name="Text 17"/>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DIVA-GIS Population Raster — Iran + Oman merged | Styled: YlOrRd ramp  |  GIS Project — Strait of Hormuz  |  April 2026</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05 — Inside the Chokepoint: Navigation Lanes</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Geographic Detail</a:t>
            </a:r>
            <a:endParaRPr lang="en-US" sz="1200" dirty="0"/>
          </a:p>
        </p:txBody>
      </p:sp>
      <p:pic>
        <p:nvPicPr>
          <p:cNvPr id="5" name="Image 0" descr="/home/claude/hormuz_pptx/chokepoint_diagram.png"/>
          <p:cNvPicPr>
            <a:picLocks noChangeAspect="1"/>
          </p:cNvPicPr>
          <p:nvPr/>
        </p:nvPicPr>
        <p:blipFill>
          <a:blip r:embed="rId3"/>
          <a:stretch>
            <a:fillRect/>
          </a:stretch>
        </p:blipFill>
        <p:spPr>
          <a:xfrm>
            <a:off x="274320" y="777240"/>
            <a:ext cx="5943600" cy="3200400"/>
          </a:xfrm>
          <a:prstGeom prst="rect">
            <a:avLst/>
          </a:prstGeom>
          <a:effectLst>
            <a:outerShdw blurRad="101600" dist="38100" dir="8100000" algn="bl" rotWithShape="0">
              <a:srgbClr val="000000">
                <a:alpha val="20000"/>
              </a:srgbClr>
            </a:outerShdw>
          </a:effectLst>
        </p:spPr>
      </p:pic>
      <p:sp>
        <p:nvSpPr>
          <p:cNvPr id="6" name="Shape 3"/>
          <p:cNvSpPr/>
          <p:nvPr/>
        </p:nvSpPr>
        <p:spPr>
          <a:xfrm>
            <a:off x="6400800" y="777240"/>
            <a:ext cx="2468880" cy="3200400"/>
          </a:xfrm>
          <a:prstGeom prst="rect">
            <a:avLst/>
          </a:prstGeom>
          <a:solidFill>
            <a:srgbClr val="1C2E44"/>
          </a:solidFill>
          <a:ln/>
          <a:effectLst>
            <a:outerShdw blurRad="101600" dist="38100" dir="8100000" algn="bl" rotWithShape="0">
              <a:srgbClr val="000000">
                <a:alpha val="20000"/>
              </a:srgbClr>
            </a:outerShdw>
          </a:effectLst>
        </p:spPr>
      </p:sp>
      <p:sp>
        <p:nvSpPr>
          <p:cNvPr id="7" name="Text 4"/>
          <p:cNvSpPr/>
          <p:nvPr/>
        </p:nvSpPr>
        <p:spPr>
          <a:xfrm>
            <a:off x="6537960" y="868680"/>
            <a:ext cx="2194560" cy="274320"/>
          </a:xfrm>
          <a:prstGeom prst="rect">
            <a:avLst/>
          </a:prstGeom>
          <a:noFill/>
          <a:ln/>
        </p:spPr>
        <p:txBody>
          <a:bodyPr wrap="square" lIns="0" tIns="0" rIns="0" bIns="0" rtlCol="0" anchor="ctr"/>
          <a:lstStyle/>
          <a:p>
            <a:pPr marL="0" indent="0">
              <a:buNone/>
            </a:pPr>
            <a:r>
              <a:rPr lang="en-US" sz="1200" b="1" dirty="0">
                <a:solidFill>
                  <a:srgbClr val="F0A500"/>
                </a:solidFill>
                <a:latin typeface="Calibri" pitchFamily="34" charset="0"/>
                <a:ea typeface="Calibri" pitchFamily="34" charset="-122"/>
                <a:cs typeface="Calibri" pitchFamily="34" charset="-120"/>
              </a:rPr>
              <a:t>Navigation Facts</a:t>
            </a:r>
            <a:endParaRPr lang="en-US" sz="1200" dirty="0"/>
          </a:p>
        </p:txBody>
      </p:sp>
      <p:sp>
        <p:nvSpPr>
          <p:cNvPr id="8" name="Shape 5"/>
          <p:cNvSpPr/>
          <p:nvPr/>
        </p:nvSpPr>
        <p:spPr>
          <a:xfrm>
            <a:off x="6537960" y="1261872"/>
            <a:ext cx="164592" cy="164592"/>
          </a:xfrm>
          <a:prstGeom prst="rect">
            <a:avLst/>
          </a:prstGeom>
          <a:solidFill>
            <a:srgbClr val="3498DB"/>
          </a:solidFill>
          <a:ln/>
        </p:spPr>
      </p:sp>
      <p:sp>
        <p:nvSpPr>
          <p:cNvPr id="9" name="Text 6"/>
          <p:cNvSpPr/>
          <p:nvPr/>
        </p:nvSpPr>
        <p:spPr>
          <a:xfrm>
            <a:off x="6784848" y="1243584"/>
            <a:ext cx="2011680" cy="256032"/>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Total width: ~33 km</a:t>
            </a:r>
            <a:endParaRPr lang="en-US" sz="1000" dirty="0"/>
          </a:p>
        </p:txBody>
      </p:sp>
      <p:sp>
        <p:nvSpPr>
          <p:cNvPr id="10" name="Shape 7"/>
          <p:cNvSpPr/>
          <p:nvPr/>
        </p:nvSpPr>
        <p:spPr>
          <a:xfrm>
            <a:off x="6537960" y="1563624"/>
            <a:ext cx="164592" cy="164592"/>
          </a:xfrm>
          <a:prstGeom prst="rect">
            <a:avLst/>
          </a:prstGeom>
          <a:solidFill>
            <a:srgbClr val="3498DB"/>
          </a:solidFill>
          <a:ln/>
        </p:spPr>
      </p:sp>
      <p:sp>
        <p:nvSpPr>
          <p:cNvPr id="11" name="Text 8"/>
          <p:cNvSpPr/>
          <p:nvPr/>
        </p:nvSpPr>
        <p:spPr>
          <a:xfrm>
            <a:off x="6784848" y="1545336"/>
            <a:ext cx="2011680" cy="256032"/>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Inbound lane: ~3 km</a:t>
            </a:r>
            <a:endParaRPr lang="en-US" sz="1000" dirty="0"/>
          </a:p>
        </p:txBody>
      </p:sp>
      <p:sp>
        <p:nvSpPr>
          <p:cNvPr id="12" name="Shape 9"/>
          <p:cNvSpPr/>
          <p:nvPr/>
        </p:nvSpPr>
        <p:spPr>
          <a:xfrm>
            <a:off x="6537960" y="1865376"/>
            <a:ext cx="164592" cy="164592"/>
          </a:xfrm>
          <a:prstGeom prst="rect">
            <a:avLst/>
          </a:prstGeom>
          <a:solidFill>
            <a:srgbClr val="3498DB"/>
          </a:solidFill>
          <a:ln/>
        </p:spPr>
      </p:sp>
      <p:sp>
        <p:nvSpPr>
          <p:cNvPr id="13" name="Text 10"/>
          <p:cNvSpPr/>
          <p:nvPr/>
        </p:nvSpPr>
        <p:spPr>
          <a:xfrm>
            <a:off x="6784848" y="1847088"/>
            <a:ext cx="2011680" cy="256032"/>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Separation zone: ~3 km</a:t>
            </a:r>
            <a:endParaRPr lang="en-US" sz="1000" dirty="0"/>
          </a:p>
        </p:txBody>
      </p:sp>
      <p:sp>
        <p:nvSpPr>
          <p:cNvPr id="14" name="Shape 11"/>
          <p:cNvSpPr/>
          <p:nvPr/>
        </p:nvSpPr>
        <p:spPr>
          <a:xfrm>
            <a:off x="6537960" y="2167128"/>
            <a:ext cx="164592" cy="164592"/>
          </a:xfrm>
          <a:prstGeom prst="rect">
            <a:avLst/>
          </a:prstGeom>
          <a:solidFill>
            <a:srgbClr val="3498DB"/>
          </a:solidFill>
          <a:ln/>
        </p:spPr>
      </p:sp>
      <p:sp>
        <p:nvSpPr>
          <p:cNvPr id="15" name="Text 12"/>
          <p:cNvSpPr/>
          <p:nvPr/>
        </p:nvSpPr>
        <p:spPr>
          <a:xfrm>
            <a:off x="6784848" y="2148840"/>
            <a:ext cx="2011680" cy="256032"/>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Outbound lane: ~3 km</a:t>
            </a:r>
            <a:endParaRPr lang="en-US" sz="1000" dirty="0"/>
          </a:p>
        </p:txBody>
      </p:sp>
      <p:sp>
        <p:nvSpPr>
          <p:cNvPr id="16" name="Shape 13"/>
          <p:cNvSpPr/>
          <p:nvPr/>
        </p:nvSpPr>
        <p:spPr>
          <a:xfrm>
            <a:off x="6537960" y="2468880"/>
            <a:ext cx="164592" cy="164592"/>
          </a:xfrm>
          <a:prstGeom prst="rect">
            <a:avLst/>
          </a:prstGeom>
          <a:solidFill>
            <a:srgbClr val="3498DB"/>
          </a:solidFill>
          <a:ln/>
        </p:spPr>
      </p:sp>
      <p:sp>
        <p:nvSpPr>
          <p:cNvPr id="17" name="Text 14"/>
          <p:cNvSpPr/>
          <p:nvPr/>
        </p:nvSpPr>
        <p:spPr>
          <a:xfrm>
            <a:off x="6784848" y="2450592"/>
            <a:ext cx="2011680" cy="256032"/>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Depth: 60–100 m</a:t>
            </a:r>
            <a:endParaRPr lang="en-US" sz="1000" dirty="0"/>
          </a:p>
        </p:txBody>
      </p:sp>
      <p:sp>
        <p:nvSpPr>
          <p:cNvPr id="18" name="Shape 15"/>
          <p:cNvSpPr/>
          <p:nvPr/>
        </p:nvSpPr>
        <p:spPr>
          <a:xfrm>
            <a:off x="6537960" y="2770632"/>
            <a:ext cx="164592" cy="164592"/>
          </a:xfrm>
          <a:prstGeom prst="rect">
            <a:avLst/>
          </a:prstGeom>
          <a:solidFill>
            <a:srgbClr val="3498DB"/>
          </a:solidFill>
          <a:ln/>
        </p:spPr>
      </p:sp>
      <p:sp>
        <p:nvSpPr>
          <p:cNvPr id="19" name="Text 16"/>
          <p:cNvSpPr/>
          <p:nvPr/>
        </p:nvSpPr>
        <p:spPr>
          <a:xfrm>
            <a:off x="6784848" y="2752344"/>
            <a:ext cx="2011680" cy="256032"/>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~17 tankers per day</a:t>
            </a:r>
            <a:endParaRPr lang="en-US" sz="1000" dirty="0"/>
          </a:p>
        </p:txBody>
      </p:sp>
      <p:sp>
        <p:nvSpPr>
          <p:cNvPr id="20" name="Shape 17"/>
          <p:cNvSpPr/>
          <p:nvPr/>
        </p:nvSpPr>
        <p:spPr>
          <a:xfrm>
            <a:off x="6537960" y="3072384"/>
            <a:ext cx="164592" cy="164592"/>
          </a:xfrm>
          <a:prstGeom prst="rect">
            <a:avLst/>
          </a:prstGeom>
          <a:solidFill>
            <a:srgbClr val="3498DB"/>
          </a:solidFill>
          <a:ln/>
        </p:spPr>
      </p:sp>
      <p:sp>
        <p:nvSpPr>
          <p:cNvPr id="21" name="Text 18"/>
          <p:cNvSpPr/>
          <p:nvPr/>
        </p:nvSpPr>
        <p:spPr>
          <a:xfrm>
            <a:off x="6784848" y="3054096"/>
            <a:ext cx="2011680" cy="256032"/>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Managed by: IMO</a:t>
            </a:r>
            <a:endParaRPr lang="en-US" sz="1000" dirty="0"/>
          </a:p>
        </p:txBody>
      </p:sp>
      <p:sp>
        <p:nvSpPr>
          <p:cNvPr id="22" name="Shape 19"/>
          <p:cNvSpPr/>
          <p:nvPr/>
        </p:nvSpPr>
        <p:spPr>
          <a:xfrm>
            <a:off x="274320" y="4069080"/>
            <a:ext cx="8595360" cy="548640"/>
          </a:xfrm>
          <a:prstGeom prst="rect">
            <a:avLst/>
          </a:prstGeom>
          <a:solidFill>
            <a:srgbClr val="1A3A5C"/>
          </a:solidFill>
          <a:ln/>
        </p:spPr>
      </p:sp>
      <p:sp>
        <p:nvSpPr>
          <p:cNvPr id="23" name="Text 20"/>
          <p:cNvSpPr/>
          <p:nvPr/>
        </p:nvSpPr>
        <p:spPr>
          <a:xfrm>
            <a:off x="457200" y="4096512"/>
            <a:ext cx="8229600" cy="475488"/>
          </a:xfrm>
          <a:prstGeom prst="rect">
            <a:avLst/>
          </a:prstGeom>
          <a:noFill/>
          <a:ln/>
        </p:spPr>
        <p:txBody>
          <a:bodyPr wrap="square" lIns="0" tIns="0" rIns="0" bIns="0" rtlCol="0" anchor="ctr"/>
          <a:lstStyle/>
          <a:p>
            <a:pPr marL="0" indent="0">
              <a:buNone/>
            </a:pPr>
            <a:r>
              <a:rPr lang="en-US" sz="1000" i="1" dirty="0">
                <a:solidFill>
                  <a:srgbClr val="D6E4F0"/>
                </a:solidFill>
                <a:latin typeface="Calibri" pitchFamily="34" charset="0"/>
                <a:ea typeface="Calibri" pitchFamily="34" charset="-122"/>
                <a:cs typeface="Calibri" pitchFamily="34" charset="-120"/>
              </a:rPr>
              <a:t>The International Maritime Organization (IMO) manages a Traffic Separation Scheme (TSS) in the Strait — all vessels must follow designated lanes to prevent collision in this extremely narrow passage.</a:t>
            </a:r>
            <a:endParaRPr lang="en-US" sz="1000" dirty="0"/>
          </a:p>
        </p:txBody>
      </p:sp>
      <p:sp>
        <p:nvSpPr>
          <p:cNvPr id="24" name="Shape 21"/>
          <p:cNvSpPr/>
          <p:nvPr/>
        </p:nvSpPr>
        <p:spPr>
          <a:xfrm>
            <a:off x="0" y="4892040"/>
            <a:ext cx="9144000" cy="251460"/>
          </a:xfrm>
          <a:prstGeom prst="rect">
            <a:avLst/>
          </a:prstGeom>
          <a:solidFill>
            <a:srgbClr val="0A1628"/>
          </a:solidFill>
          <a:ln/>
        </p:spPr>
      </p:sp>
      <p:sp>
        <p:nvSpPr>
          <p:cNvPr id="25" name="Text 22"/>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IMO Traffic Separation Scheme | U.S. EIA Maritime Data  |  GIS Project — Strait of Hormuz  |  April 2026</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07 — Geographic Importance Through History</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Why Location Has Always Mattered</a:t>
            </a:r>
            <a:endParaRPr lang="en-US" sz="1200" dirty="0"/>
          </a:p>
        </p:txBody>
      </p:sp>
      <p:pic>
        <p:nvPicPr>
          <p:cNvPr id="5" name="Image 0" descr="/home/claude/hormuz_pptx/timeline.png"/>
          <p:cNvPicPr>
            <a:picLocks noChangeAspect="1"/>
          </p:cNvPicPr>
          <p:nvPr/>
        </p:nvPicPr>
        <p:blipFill>
          <a:blip r:embed="rId3"/>
          <a:stretch>
            <a:fillRect/>
          </a:stretch>
        </p:blipFill>
        <p:spPr>
          <a:xfrm>
            <a:off x="274320" y="777240"/>
            <a:ext cx="8595360" cy="2651760"/>
          </a:xfrm>
          <a:prstGeom prst="rect">
            <a:avLst/>
          </a:prstGeom>
          <a:effectLst>
            <a:outerShdw blurRad="101600" dist="38100" dir="8100000" algn="bl" rotWithShape="0">
              <a:srgbClr val="000000">
                <a:alpha val="20000"/>
              </a:srgbClr>
            </a:outerShdw>
          </a:effectLst>
        </p:spPr>
      </p:pic>
      <p:sp>
        <p:nvSpPr>
          <p:cNvPr id="6" name="Shape 3"/>
          <p:cNvSpPr/>
          <p:nvPr/>
        </p:nvSpPr>
        <p:spPr>
          <a:xfrm>
            <a:off x="274320" y="3520440"/>
            <a:ext cx="8595360" cy="1417320"/>
          </a:xfrm>
          <a:prstGeom prst="rect">
            <a:avLst/>
          </a:prstGeom>
          <a:solidFill>
            <a:srgbClr val="1C2E44"/>
          </a:solidFill>
          <a:ln/>
          <a:effectLst>
            <a:outerShdw blurRad="101600" dist="38100" dir="8100000" algn="bl" rotWithShape="0">
              <a:srgbClr val="000000">
                <a:alpha val="20000"/>
              </a:srgbClr>
            </a:outerShdw>
          </a:effectLst>
        </p:spPr>
      </p:sp>
      <p:sp>
        <p:nvSpPr>
          <p:cNvPr id="7" name="Text 4"/>
          <p:cNvSpPr/>
          <p:nvPr/>
        </p:nvSpPr>
        <p:spPr>
          <a:xfrm>
            <a:off x="457200" y="3611880"/>
            <a:ext cx="8138160" cy="292608"/>
          </a:xfrm>
          <a:prstGeom prst="rect">
            <a:avLst/>
          </a:prstGeom>
          <a:noFill/>
          <a:ln/>
        </p:spPr>
        <p:txBody>
          <a:bodyPr wrap="square" lIns="0" tIns="0" rIns="0" bIns="0" rtlCol="0" anchor="ctr"/>
          <a:lstStyle/>
          <a:p>
            <a:pPr marL="0" indent="0">
              <a:buNone/>
            </a:pPr>
            <a:r>
              <a:rPr lang="en-US" sz="1300" b="1" dirty="0">
                <a:solidFill>
                  <a:srgbClr val="F0A500"/>
                </a:solidFill>
                <a:latin typeface="Calibri" pitchFamily="34" charset="0"/>
                <a:ea typeface="Calibri" pitchFamily="34" charset="-122"/>
                <a:cs typeface="Calibri" pitchFamily="34" charset="-120"/>
              </a:rPr>
              <a:t>Geographic Permanence — The Key Insight</a:t>
            </a:r>
            <a:endParaRPr lang="en-US" sz="1300" dirty="0"/>
          </a:p>
        </p:txBody>
      </p:sp>
      <p:sp>
        <p:nvSpPr>
          <p:cNvPr id="8" name="Text 5"/>
          <p:cNvSpPr/>
          <p:nvPr/>
        </p:nvSpPr>
        <p:spPr>
          <a:xfrm>
            <a:off x="457200" y="3931920"/>
            <a:ext cx="8229600" cy="822960"/>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The Strait of Hormuz has been geographically critical for over 200 years — and this will not change. Political situations come and go. Trade partners change. But the physical geography is permanent.</a:t>
            </a:r>
            <a:r>
              <a:rPr lang="en-US" sz="1100" b="1" dirty="0">
                <a:solidFill>
                  <a:srgbClr val="F0A500"/>
                </a:solidFill>
                <a:latin typeface="Calibri" pitchFamily="34" charset="0"/>
                <a:ea typeface="Calibri" pitchFamily="34" charset="-122"/>
                <a:cs typeface="Calibri" pitchFamily="34" charset="-120"/>
              </a:rPr>
              <a:t> The 33 km gap between Iran and Oman is a geographic fact — not a political one.</a:t>
            </a:r>
            <a:endParaRPr lang="en-US" sz="1100" dirty="0"/>
          </a:p>
        </p:txBody>
      </p:sp>
      <p:sp>
        <p:nvSpPr>
          <p:cNvPr id="9" name="Shape 6"/>
          <p:cNvSpPr/>
          <p:nvPr/>
        </p:nvSpPr>
        <p:spPr>
          <a:xfrm>
            <a:off x="0" y="4892040"/>
            <a:ext cx="9144000" cy="251460"/>
          </a:xfrm>
          <a:prstGeom prst="rect">
            <a:avLst/>
          </a:prstGeom>
          <a:solidFill>
            <a:srgbClr val="0A1628"/>
          </a:solidFill>
          <a:ln/>
        </p:spPr>
      </p:sp>
      <p:sp>
        <p:nvSpPr>
          <p:cNvPr id="10" name="Text 7"/>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Historical data — U.S. EIA | IEA | Academic geography sources  |  GIS Project — Strait of Hormuz  |  April 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213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07 — Geographic Analysis: Answering the Four Questions</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Assignment Requirements</a:t>
            </a:r>
            <a:endParaRPr lang="en-US" sz="1200" dirty="0"/>
          </a:p>
        </p:txBody>
      </p:sp>
      <p:sp>
        <p:nvSpPr>
          <p:cNvPr id="5" name="Shape 3"/>
          <p:cNvSpPr/>
          <p:nvPr/>
        </p:nvSpPr>
        <p:spPr>
          <a:xfrm>
            <a:off x="274320" y="804672"/>
            <a:ext cx="4206240" cy="1920240"/>
          </a:xfrm>
          <a:prstGeom prst="rect">
            <a:avLst/>
          </a:prstGeom>
          <a:solidFill>
            <a:srgbClr val="1C2E44"/>
          </a:solidFill>
          <a:ln/>
          <a:effectLst>
            <a:outerShdw blurRad="101600" dist="38100" dir="8100000" algn="bl" rotWithShape="0">
              <a:srgbClr val="000000">
                <a:alpha val="20000"/>
              </a:srgbClr>
            </a:outerShdw>
          </a:effectLst>
        </p:spPr>
      </p:sp>
      <p:sp>
        <p:nvSpPr>
          <p:cNvPr id="6" name="Shape 4"/>
          <p:cNvSpPr/>
          <p:nvPr/>
        </p:nvSpPr>
        <p:spPr>
          <a:xfrm>
            <a:off x="274320" y="804672"/>
            <a:ext cx="4206240" cy="411480"/>
          </a:xfrm>
          <a:prstGeom prst="rect">
            <a:avLst/>
          </a:prstGeom>
          <a:solidFill>
            <a:srgbClr val="E74C3C"/>
          </a:solidFill>
          <a:ln/>
        </p:spPr>
      </p:sp>
      <p:sp>
        <p:nvSpPr>
          <p:cNvPr id="7" name="Text 5"/>
          <p:cNvSpPr/>
          <p:nvPr/>
        </p:nvSpPr>
        <p:spPr>
          <a:xfrm>
            <a:off x="384048" y="868680"/>
            <a:ext cx="457200" cy="29260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Q1</a:t>
            </a:r>
            <a:endParaRPr lang="en-US" sz="1600" dirty="0"/>
          </a:p>
        </p:txBody>
      </p:sp>
      <p:sp>
        <p:nvSpPr>
          <p:cNvPr id="8" name="Text 6"/>
          <p:cNvSpPr/>
          <p:nvPr/>
        </p:nvSpPr>
        <p:spPr>
          <a:xfrm>
            <a:off x="868680" y="868680"/>
            <a:ext cx="347472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Why is this region important?</a:t>
            </a:r>
            <a:endParaRPr lang="en-US" sz="1100" dirty="0"/>
          </a:p>
        </p:txBody>
      </p:sp>
      <p:sp>
        <p:nvSpPr>
          <p:cNvPr id="9" name="Text 7"/>
          <p:cNvSpPr/>
          <p:nvPr/>
        </p:nvSpPr>
        <p:spPr>
          <a:xfrm>
            <a:off x="411480" y="1307592"/>
            <a:ext cx="3931920" cy="132588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It is the only maritime exit from the Persian Gulf. All energy exports from Iran, Iraq, Kuwait, Qatar, UAE and Saudi Arabia must pass through this 33 km gap. Geography forces every barrel of oil through one point.</a:t>
            </a:r>
            <a:endParaRPr lang="en-US" sz="1000" dirty="0"/>
          </a:p>
        </p:txBody>
      </p:sp>
      <p:sp>
        <p:nvSpPr>
          <p:cNvPr id="10" name="Shape 8"/>
          <p:cNvSpPr/>
          <p:nvPr/>
        </p:nvSpPr>
        <p:spPr>
          <a:xfrm>
            <a:off x="274320" y="2862072"/>
            <a:ext cx="4206240" cy="1920240"/>
          </a:xfrm>
          <a:prstGeom prst="rect">
            <a:avLst/>
          </a:prstGeom>
          <a:solidFill>
            <a:srgbClr val="1C2E44"/>
          </a:solidFill>
          <a:ln/>
          <a:effectLst>
            <a:outerShdw blurRad="101600" dist="38100" dir="8100000" algn="bl" rotWithShape="0">
              <a:srgbClr val="000000">
                <a:alpha val="20000"/>
              </a:srgbClr>
            </a:outerShdw>
          </a:effectLst>
        </p:spPr>
      </p:sp>
      <p:sp>
        <p:nvSpPr>
          <p:cNvPr id="11" name="Shape 9"/>
          <p:cNvSpPr/>
          <p:nvPr/>
        </p:nvSpPr>
        <p:spPr>
          <a:xfrm>
            <a:off x="274320" y="2862072"/>
            <a:ext cx="4206240" cy="411480"/>
          </a:xfrm>
          <a:prstGeom prst="rect">
            <a:avLst/>
          </a:prstGeom>
          <a:solidFill>
            <a:srgbClr val="F0A500"/>
          </a:solidFill>
          <a:ln/>
        </p:spPr>
      </p:sp>
      <p:sp>
        <p:nvSpPr>
          <p:cNvPr id="12" name="Text 10"/>
          <p:cNvSpPr/>
          <p:nvPr/>
        </p:nvSpPr>
        <p:spPr>
          <a:xfrm>
            <a:off x="384048" y="2926080"/>
            <a:ext cx="457200" cy="29260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Q2</a:t>
            </a:r>
            <a:endParaRPr lang="en-US" sz="1600" dirty="0"/>
          </a:p>
        </p:txBody>
      </p:sp>
      <p:sp>
        <p:nvSpPr>
          <p:cNvPr id="13" name="Text 11"/>
          <p:cNvSpPr/>
          <p:nvPr/>
        </p:nvSpPr>
        <p:spPr>
          <a:xfrm>
            <a:off x="868680" y="2926080"/>
            <a:ext cx="347472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What natural resources does it have?</a:t>
            </a:r>
            <a:endParaRPr lang="en-US" sz="1100" dirty="0"/>
          </a:p>
        </p:txBody>
      </p:sp>
      <p:sp>
        <p:nvSpPr>
          <p:cNvPr id="14" name="Text 12"/>
          <p:cNvSpPr/>
          <p:nvPr/>
        </p:nvSpPr>
        <p:spPr>
          <a:xfrm>
            <a:off x="411480" y="3364992"/>
            <a:ext cx="3931920" cy="132588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Our resource map shows the world's single largest concentration of oil and gas reserves. The South Pars/North Dome field straddles the Iran-Qatar border — the largest natural gas field on Earth. Saudi Arabia's Ghawar field is the largest oil field.</a:t>
            </a:r>
            <a:endParaRPr lang="en-US" sz="1000" dirty="0"/>
          </a:p>
        </p:txBody>
      </p:sp>
      <p:sp>
        <p:nvSpPr>
          <p:cNvPr id="15" name="Shape 13"/>
          <p:cNvSpPr/>
          <p:nvPr/>
        </p:nvSpPr>
        <p:spPr>
          <a:xfrm>
            <a:off x="4709160" y="804672"/>
            <a:ext cx="4206240" cy="1920240"/>
          </a:xfrm>
          <a:prstGeom prst="rect">
            <a:avLst/>
          </a:prstGeom>
          <a:solidFill>
            <a:srgbClr val="1C2E44"/>
          </a:solidFill>
          <a:ln/>
          <a:effectLst>
            <a:outerShdw blurRad="101600" dist="38100" dir="8100000" algn="bl" rotWithShape="0">
              <a:srgbClr val="000000">
                <a:alpha val="20000"/>
              </a:srgbClr>
            </a:outerShdw>
          </a:effectLst>
        </p:spPr>
      </p:sp>
      <p:sp>
        <p:nvSpPr>
          <p:cNvPr id="16" name="Shape 14"/>
          <p:cNvSpPr/>
          <p:nvPr/>
        </p:nvSpPr>
        <p:spPr>
          <a:xfrm>
            <a:off x="4709160" y="804672"/>
            <a:ext cx="4206240" cy="411480"/>
          </a:xfrm>
          <a:prstGeom prst="rect">
            <a:avLst/>
          </a:prstGeom>
          <a:solidFill>
            <a:srgbClr val="3498DB"/>
          </a:solidFill>
          <a:ln/>
        </p:spPr>
      </p:sp>
      <p:sp>
        <p:nvSpPr>
          <p:cNvPr id="17" name="Text 15"/>
          <p:cNvSpPr/>
          <p:nvPr/>
        </p:nvSpPr>
        <p:spPr>
          <a:xfrm>
            <a:off x="4818888" y="868680"/>
            <a:ext cx="457200" cy="29260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Q3</a:t>
            </a:r>
            <a:endParaRPr lang="en-US" sz="1600" dirty="0"/>
          </a:p>
        </p:txBody>
      </p:sp>
      <p:sp>
        <p:nvSpPr>
          <p:cNvPr id="18" name="Text 16"/>
          <p:cNvSpPr/>
          <p:nvPr/>
        </p:nvSpPr>
        <p:spPr>
          <a:xfrm>
            <a:off x="5303520" y="868680"/>
            <a:ext cx="347472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Does location affect trade or conflict?</a:t>
            </a:r>
            <a:endParaRPr lang="en-US" sz="1100" dirty="0"/>
          </a:p>
        </p:txBody>
      </p:sp>
      <p:sp>
        <p:nvSpPr>
          <p:cNvPr id="19" name="Text 17"/>
          <p:cNvSpPr/>
          <p:nvPr/>
        </p:nvSpPr>
        <p:spPr>
          <a:xfrm>
            <a:off x="4846320" y="1307592"/>
            <a:ext cx="3931920" cy="132588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Directly. Location is the entire reason this place matters. The strait's geography creates an unavoidable dependency — no overland pipeline replaces 21% of global oil flow. Every trade disruption here causes immediate global price effects.</a:t>
            </a:r>
            <a:endParaRPr lang="en-US" sz="1000" dirty="0"/>
          </a:p>
        </p:txBody>
      </p:sp>
      <p:sp>
        <p:nvSpPr>
          <p:cNvPr id="20" name="Shape 18"/>
          <p:cNvSpPr/>
          <p:nvPr/>
        </p:nvSpPr>
        <p:spPr>
          <a:xfrm>
            <a:off x="4709160" y="2862072"/>
            <a:ext cx="4206240" cy="1920240"/>
          </a:xfrm>
          <a:prstGeom prst="rect">
            <a:avLst/>
          </a:prstGeom>
          <a:solidFill>
            <a:srgbClr val="1C2E44"/>
          </a:solidFill>
          <a:ln/>
          <a:effectLst>
            <a:outerShdw blurRad="101600" dist="38100" dir="8100000" algn="bl" rotWithShape="0">
              <a:srgbClr val="000000">
                <a:alpha val="20000"/>
              </a:srgbClr>
            </a:outerShdw>
          </a:effectLst>
        </p:spPr>
      </p:sp>
      <p:sp>
        <p:nvSpPr>
          <p:cNvPr id="21" name="Shape 19"/>
          <p:cNvSpPr/>
          <p:nvPr/>
        </p:nvSpPr>
        <p:spPr>
          <a:xfrm>
            <a:off x="4709160" y="2862072"/>
            <a:ext cx="4206240" cy="411480"/>
          </a:xfrm>
          <a:prstGeom prst="rect">
            <a:avLst/>
          </a:prstGeom>
          <a:solidFill>
            <a:srgbClr val="2ECC71"/>
          </a:solidFill>
          <a:ln/>
        </p:spPr>
      </p:sp>
      <p:sp>
        <p:nvSpPr>
          <p:cNvPr id="22" name="Text 20"/>
          <p:cNvSpPr/>
          <p:nvPr/>
        </p:nvSpPr>
        <p:spPr>
          <a:xfrm>
            <a:off x="4818888" y="2926080"/>
            <a:ext cx="457200" cy="29260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Q4</a:t>
            </a:r>
            <a:endParaRPr lang="en-US" sz="1600" dirty="0"/>
          </a:p>
        </p:txBody>
      </p:sp>
      <p:sp>
        <p:nvSpPr>
          <p:cNvPr id="23" name="Text 21"/>
          <p:cNvSpPr/>
          <p:nvPr/>
        </p:nvSpPr>
        <p:spPr>
          <a:xfrm>
            <a:off x="5303520" y="2926080"/>
            <a:ext cx="347472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Are there strategic geographic features?</a:t>
            </a:r>
            <a:endParaRPr lang="en-US" sz="1100" dirty="0"/>
          </a:p>
        </p:txBody>
      </p:sp>
      <p:sp>
        <p:nvSpPr>
          <p:cNvPr id="24" name="Text 22"/>
          <p:cNvSpPr/>
          <p:nvPr/>
        </p:nvSpPr>
        <p:spPr>
          <a:xfrm>
            <a:off x="4846320" y="3364992"/>
            <a:ext cx="3931920" cy="1325880"/>
          </a:xfrm>
          <a:prstGeom prst="rect">
            <a:avLst/>
          </a:prstGeom>
          <a:noFill/>
          <a:ln/>
        </p:spPr>
        <p:txBody>
          <a:bodyPr wrap="square" lIns="0" tIns="0" rIns="0" bIns="0" rtlCol="0" anchor="ctr"/>
          <a:lstStyle/>
          <a:p>
            <a:pPr marL="0" indent="0">
              <a:buNone/>
            </a:pPr>
            <a:r>
              <a:rPr lang="en-US" sz="1000" dirty="0">
                <a:solidFill>
                  <a:srgbClr val="D6E4F0"/>
                </a:solidFill>
                <a:latin typeface="Calibri" pitchFamily="34" charset="0"/>
                <a:ea typeface="Calibri" pitchFamily="34" charset="-122"/>
                <a:cs typeface="Calibri" pitchFamily="34" charset="-120"/>
              </a:rPr>
              <a:t>Three visible in our maps: (1) Extreme channel narrowness — 3 km lanes. (2) Competing national borders on both shores creating jurisdictional complexity. (3) Major port concentration with no viable alternative route — confirmed by our shipping map.</a:t>
            </a:r>
            <a:endParaRPr lang="en-US" sz="1000" dirty="0"/>
          </a:p>
        </p:txBody>
      </p:sp>
      <p:sp>
        <p:nvSpPr>
          <p:cNvPr id="25" name="Shape 23"/>
          <p:cNvSpPr/>
          <p:nvPr/>
        </p:nvSpPr>
        <p:spPr>
          <a:xfrm>
            <a:off x="0" y="4892040"/>
            <a:ext cx="9144000" cy="251460"/>
          </a:xfrm>
          <a:prstGeom prst="rect">
            <a:avLst/>
          </a:prstGeom>
          <a:solidFill>
            <a:srgbClr val="0A1628"/>
          </a:solidFill>
          <a:ln/>
        </p:spPr>
      </p:sp>
      <p:sp>
        <p:nvSpPr>
          <p:cNvPr id="26" name="Text 24"/>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Analysis based on QGIS maps + U.S. EIA data  |  GIS Project — Strait of Hormuz  |  April 2026</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3A5C"/>
          </a:solidFill>
          <a:ln/>
        </p:spPr>
      </p:sp>
      <p:sp>
        <p:nvSpPr>
          <p:cNvPr id="3" name="Text 1"/>
          <p:cNvSpPr/>
          <p:nvPr/>
        </p:nvSpPr>
        <p:spPr>
          <a:xfrm>
            <a:off x="274320" y="73152"/>
            <a:ext cx="6858000" cy="54864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07 — Summary: Our Four QGIS Maps</a:t>
            </a:r>
            <a:endParaRPr lang="en-US" sz="2200" dirty="0"/>
          </a:p>
        </p:txBody>
      </p:sp>
      <p:sp>
        <p:nvSpPr>
          <p:cNvPr id="4" name="Text 2"/>
          <p:cNvSpPr/>
          <p:nvPr/>
        </p:nvSpPr>
        <p:spPr>
          <a:xfrm>
            <a:off x="274320" y="73152"/>
            <a:ext cx="8686800" cy="548640"/>
          </a:xfrm>
          <a:prstGeom prst="rect">
            <a:avLst/>
          </a:prstGeom>
          <a:noFill/>
          <a:ln/>
        </p:spPr>
        <p:txBody>
          <a:bodyPr wrap="square" lIns="0" tIns="0" rIns="0" bIns="0" rtlCol="0" anchor="ctr"/>
          <a:lstStyle/>
          <a:p>
            <a:pPr marL="0" indent="0" algn="r">
              <a:buNone/>
            </a:pPr>
            <a:r>
              <a:rPr lang="en-US" sz="1200" dirty="0">
                <a:solidFill>
                  <a:srgbClr val="F0A500"/>
                </a:solidFill>
                <a:latin typeface="Calibri" pitchFamily="34" charset="0"/>
                <a:ea typeface="Calibri" pitchFamily="34" charset="-122"/>
                <a:cs typeface="Calibri" pitchFamily="34" charset="-120"/>
              </a:rPr>
              <a:t>Complete Map Portfolio</a:t>
            </a:r>
            <a:endParaRPr lang="en-US" sz="1200" dirty="0"/>
          </a:p>
        </p:txBody>
      </p:sp>
      <p:sp>
        <p:nvSpPr>
          <p:cNvPr id="7" name="Shape 5"/>
          <p:cNvSpPr/>
          <p:nvPr/>
        </p:nvSpPr>
        <p:spPr>
          <a:xfrm>
            <a:off x="274320" y="2404872"/>
            <a:ext cx="4206240" cy="384048"/>
          </a:xfrm>
          <a:prstGeom prst="rect">
            <a:avLst/>
          </a:prstGeom>
          <a:solidFill>
            <a:srgbClr val="1C2E44"/>
          </a:solidFill>
          <a:ln/>
        </p:spPr>
      </p:sp>
      <p:sp>
        <p:nvSpPr>
          <p:cNvPr id="8" name="Shape 6"/>
          <p:cNvSpPr/>
          <p:nvPr/>
        </p:nvSpPr>
        <p:spPr>
          <a:xfrm>
            <a:off x="274320" y="2404872"/>
            <a:ext cx="54864" cy="384048"/>
          </a:xfrm>
          <a:prstGeom prst="rect">
            <a:avLst/>
          </a:prstGeom>
          <a:solidFill>
            <a:srgbClr val="3498DB"/>
          </a:solidFill>
          <a:ln/>
        </p:spPr>
      </p:sp>
      <p:sp>
        <p:nvSpPr>
          <p:cNvPr id="9" name="Text 7"/>
          <p:cNvSpPr/>
          <p:nvPr/>
        </p:nvSpPr>
        <p:spPr>
          <a:xfrm>
            <a:off x="411480" y="2432304"/>
            <a:ext cx="3931920" cy="182880"/>
          </a:xfrm>
          <a:prstGeom prst="rect">
            <a:avLst/>
          </a:prstGeom>
          <a:noFill/>
          <a:ln/>
        </p:spPr>
        <p:txBody>
          <a:bodyPr wrap="square" lIns="0" tIns="0" rIns="0" bIns="0" rtlCol="0" anchor="ctr"/>
          <a:lstStyle/>
          <a:p>
            <a:pPr marL="0" indent="0">
              <a:buNone/>
            </a:pPr>
            <a:r>
              <a:rPr lang="en-US" sz="1000" b="1" dirty="0">
                <a:solidFill>
                  <a:srgbClr val="3498DB"/>
                </a:solidFill>
                <a:latin typeface="Calibri" pitchFamily="34" charset="0"/>
                <a:ea typeface="Calibri" pitchFamily="34" charset="-122"/>
                <a:cs typeface="Calibri" pitchFamily="34" charset="-120"/>
              </a:rPr>
              <a:t>Map 1 — Political</a:t>
            </a:r>
            <a:endParaRPr lang="en-US" sz="1000" dirty="0"/>
          </a:p>
        </p:txBody>
      </p:sp>
      <p:sp>
        <p:nvSpPr>
          <p:cNvPr id="10" name="Text 8"/>
          <p:cNvSpPr/>
          <p:nvPr/>
        </p:nvSpPr>
        <p:spPr>
          <a:xfrm>
            <a:off x="411480" y="2596896"/>
            <a:ext cx="3931920" cy="164592"/>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Country borders, coastlines, rivers</a:t>
            </a:r>
            <a:endParaRPr lang="en-US" sz="900" dirty="0"/>
          </a:p>
        </p:txBody>
      </p:sp>
      <p:sp>
        <p:nvSpPr>
          <p:cNvPr id="13" name="Shape 11"/>
          <p:cNvSpPr/>
          <p:nvPr/>
        </p:nvSpPr>
        <p:spPr>
          <a:xfrm>
            <a:off x="4709160" y="2404872"/>
            <a:ext cx="4206240" cy="384048"/>
          </a:xfrm>
          <a:prstGeom prst="rect">
            <a:avLst/>
          </a:prstGeom>
          <a:solidFill>
            <a:srgbClr val="1C2E44"/>
          </a:solidFill>
          <a:ln/>
        </p:spPr>
      </p:sp>
      <p:sp>
        <p:nvSpPr>
          <p:cNvPr id="14" name="Shape 12"/>
          <p:cNvSpPr/>
          <p:nvPr/>
        </p:nvSpPr>
        <p:spPr>
          <a:xfrm>
            <a:off x="4709160" y="2404872"/>
            <a:ext cx="54864" cy="384048"/>
          </a:xfrm>
          <a:prstGeom prst="rect">
            <a:avLst/>
          </a:prstGeom>
          <a:solidFill>
            <a:srgbClr val="F0A500"/>
          </a:solidFill>
          <a:ln/>
        </p:spPr>
      </p:sp>
      <p:sp>
        <p:nvSpPr>
          <p:cNvPr id="15" name="Text 13"/>
          <p:cNvSpPr/>
          <p:nvPr/>
        </p:nvSpPr>
        <p:spPr>
          <a:xfrm>
            <a:off x="4846320" y="2432304"/>
            <a:ext cx="3931920" cy="182880"/>
          </a:xfrm>
          <a:prstGeom prst="rect">
            <a:avLst/>
          </a:prstGeom>
          <a:noFill/>
          <a:ln/>
        </p:spPr>
        <p:txBody>
          <a:bodyPr wrap="square" lIns="0" tIns="0" rIns="0" bIns="0" rtlCol="0" anchor="ctr"/>
          <a:lstStyle/>
          <a:p>
            <a:pPr marL="0" indent="0">
              <a:buNone/>
            </a:pPr>
            <a:r>
              <a:rPr lang="en-US" sz="1000" b="1" dirty="0">
                <a:solidFill>
                  <a:srgbClr val="F0A500"/>
                </a:solidFill>
                <a:latin typeface="Calibri" pitchFamily="34" charset="0"/>
                <a:ea typeface="Calibri" pitchFamily="34" charset="-122"/>
                <a:cs typeface="Calibri" pitchFamily="34" charset="-120"/>
              </a:rPr>
              <a:t>Map 2 — Resources</a:t>
            </a:r>
            <a:endParaRPr lang="en-US" sz="1000" dirty="0"/>
          </a:p>
        </p:txBody>
      </p:sp>
      <p:sp>
        <p:nvSpPr>
          <p:cNvPr id="16" name="Text 14"/>
          <p:cNvSpPr/>
          <p:nvPr/>
        </p:nvSpPr>
        <p:spPr>
          <a:xfrm>
            <a:off x="4846320" y="2596896"/>
            <a:ext cx="3931920" cy="164592"/>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Oil &amp; gas field points (CSV data)</a:t>
            </a:r>
            <a:endParaRPr lang="en-US" sz="900" dirty="0"/>
          </a:p>
        </p:txBody>
      </p:sp>
      <p:sp>
        <p:nvSpPr>
          <p:cNvPr id="19" name="Shape 17"/>
          <p:cNvSpPr/>
          <p:nvPr/>
        </p:nvSpPr>
        <p:spPr>
          <a:xfrm>
            <a:off x="274320" y="4507992"/>
            <a:ext cx="4206240" cy="384048"/>
          </a:xfrm>
          <a:prstGeom prst="rect">
            <a:avLst/>
          </a:prstGeom>
          <a:solidFill>
            <a:srgbClr val="1C2E44"/>
          </a:solidFill>
          <a:ln/>
        </p:spPr>
      </p:sp>
      <p:sp>
        <p:nvSpPr>
          <p:cNvPr id="20" name="Shape 18"/>
          <p:cNvSpPr/>
          <p:nvPr/>
        </p:nvSpPr>
        <p:spPr>
          <a:xfrm>
            <a:off x="274320" y="4507992"/>
            <a:ext cx="54864" cy="384048"/>
          </a:xfrm>
          <a:prstGeom prst="rect">
            <a:avLst/>
          </a:prstGeom>
          <a:solidFill>
            <a:srgbClr val="E74C3C"/>
          </a:solidFill>
          <a:ln/>
        </p:spPr>
      </p:sp>
      <p:sp>
        <p:nvSpPr>
          <p:cNvPr id="21" name="Text 19"/>
          <p:cNvSpPr/>
          <p:nvPr/>
        </p:nvSpPr>
        <p:spPr>
          <a:xfrm>
            <a:off x="411480" y="4535424"/>
            <a:ext cx="3931920" cy="182880"/>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Map 3 — Shipping</a:t>
            </a:r>
            <a:endParaRPr lang="en-US" sz="1000" dirty="0"/>
          </a:p>
        </p:txBody>
      </p:sp>
      <p:sp>
        <p:nvSpPr>
          <p:cNvPr id="22" name="Text 20"/>
          <p:cNvSpPr/>
          <p:nvPr/>
        </p:nvSpPr>
        <p:spPr>
          <a:xfrm>
            <a:off x="411480" y="4700016"/>
            <a:ext cx="3931920" cy="164592"/>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Trade routes, ports, chokepoint</a:t>
            </a:r>
            <a:endParaRPr lang="en-US" sz="900" dirty="0"/>
          </a:p>
        </p:txBody>
      </p:sp>
      <p:sp>
        <p:nvSpPr>
          <p:cNvPr id="25" name="Shape 23"/>
          <p:cNvSpPr/>
          <p:nvPr/>
        </p:nvSpPr>
        <p:spPr>
          <a:xfrm>
            <a:off x="4709160" y="4507992"/>
            <a:ext cx="4206240" cy="384048"/>
          </a:xfrm>
          <a:prstGeom prst="rect">
            <a:avLst/>
          </a:prstGeom>
          <a:solidFill>
            <a:srgbClr val="1C2E44"/>
          </a:solidFill>
          <a:ln/>
        </p:spPr>
      </p:sp>
      <p:sp>
        <p:nvSpPr>
          <p:cNvPr id="26" name="Shape 24"/>
          <p:cNvSpPr/>
          <p:nvPr/>
        </p:nvSpPr>
        <p:spPr>
          <a:xfrm>
            <a:off x="4709160" y="4507992"/>
            <a:ext cx="54864" cy="384048"/>
          </a:xfrm>
          <a:prstGeom prst="rect">
            <a:avLst/>
          </a:prstGeom>
          <a:solidFill>
            <a:srgbClr val="2ECC71"/>
          </a:solidFill>
          <a:ln/>
        </p:spPr>
      </p:sp>
      <p:sp>
        <p:nvSpPr>
          <p:cNvPr id="27" name="Text 25"/>
          <p:cNvSpPr/>
          <p:nvPr/>
        </p:nvSpPr>
        <p:spPr>
          <a:xfrm>
            <a:off x="4846320" y="4535424"/>
            <a:ext cx="3931920" cy="182880"/>
          </a:xfrm>
          <a:prstGeom prst="rect">
            <a:avLst/>
          </a:prstGeom>
          <a:noFill/>
          <a:ln/>
        </p:spPr>
        <p:txBody>
          <a:bodyPr wrap="square" lIns="0" tIns="0" rIns="0" bIns="0" rtlCol="0" anchor="ctr"/>
          <a:lstStyle/>
          <a:p>
            <a:pPr marL="0" indent="0">
              <a:buNone/>
            </a:pPr>
            <a:r>
              <a:rPr lang="en-US" sz="1000" b="1" dirty="0">
                <a:solidFill>
                  <a:srgbClr val="2ECC71"/>
                </a:solidFill>
                <a:latin typeface="Calibri" pitchFamily="34" charset="0"/>
                <a:ea typeface="Calibri" pitchFamily="34" charset="-122"/>
                <a:cs typeface="Calibri" pitchFamily="34" charset="-120"/>
              </a:rPr>
              <a:t>Map 4 — Elevation</a:t>
            </a:r>
            <a:endParaRPr lang="en-US" sz="1000" dirty="0"/>
          </a:p>
        </p:txBody>
      </p:sp>
      <p:sp>
        <p:nvSpPr>
          <p:cNvPr id="28" name="Text 26"/>
          <p:cNvSpPr/>
          <p:nvPr/>
        </p:nvSpPr>
        <p:spPr>
          <a:xfrm>
            <a:off x="4846320" y="4700016"/>
            <a:ext cx="3931920" cy="164592"/>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Density raster + elevation (Iran/Oman)</a:t>
            </a:r>
            <a:endParaRPr lang="en-US" sz="900" dirty="0"/>
          </a:p>
        </p:txBody>
      </p:sp>
      <p:sp>
        <p:nvSpPr>
          <p:cNvPr id="29" name="Shape 27"/>
          <p:cNvSpPr/>
          <p:nvPr/>
        </p:nvSpPr>
        <p:spPr>
          <a:xfrm>
            <a:off x="0" y="4892040"/>
            <a:ext cx="9144000" cy="251460"/>
          </a:xfrm>
          <a:prstGeom prst="rect">
            <a:avLst/>
          </a:prstGeom>
          <a:solidFill>
            <a:srgbClr val="0A1628"/>
          </a:solidFill>
          <a:ln/>
        </p:spPr>
      </p:sp>
      <p:sp>
        <p:nvSpPr>
          <p:cNvPr id="30" name="Text 28"/>
          <p:cNvSpPr/>
          <p:nvPr/>
        </p:nvSpPr>
        <p:spPr>
          <a:xfrm>
            <a:off x="274320" y="4901184"/>
            <a:ext cx="8595360" cy="201168"/>
          </a:xfrm>
          <a:prstGeom prst="rect">
            <a:avLst/>
          </a:prstGeom>
          <a:noFill/>
          <a:ln/>
        </p:spPr>
        <p:txBody>
          <a:bodyPr wrap="square" lIns="0" tIns="0" rIns="0" bIns="0" rtlCol="0" anchor="ctr"/>
          <a:lstStyle/>
          <a:p>
            <a:pPr marL="0" indent="0">
              <a:buNone/>
            </a:pPr>
            <a:r>
              <a:rPr lang="en-US" sz="900" dirty="0">
                <a:solidFill>
                  <a:srgbClr val="8BAFC9"/>
                </a:solidFill>
                <a:latin typeface="Calibri" pitchFamily="34" charset="0"/>
                <a:ea typeface="Calibri" pitchFamily="34" charset="-122"/>
                <a:cs typeface="Calibri" pitchFamily="34" charset="-120"/>
              </a:rPr>
              <a:t>Source: All maps created in QGIS 3.x | Data: Natural Earth, DIVA-GIS, Global Energy Monitor  |  GIS Project — Strait of Hormuz  |  April 2026</a:t>
            </a:r>
            <a:endParaRPr lang="en-US" sz="900" dirty="0"/>
          </a:p>
        </p:txBody>
      </p:sp>
      <p:pic>
        <p:nvPicPr>
          <p:cNvPr id="33" name="Picture 32">
            <a:extLst>
              <a:ext uri="{FF2B5EF4-FFF2-40B4-BE49-F238E27FC236}">
                <a16:creationId xmlns:a16="http://schemas.microsoft.com/office/drawing/2014/main" id="{2D387203-D5CF-F410-70D5-C5BAF9B92648}"/>
              </a:ext>
            </a:extLst>
          </p:cNvPr>
          <p:cNvPicPr>
            <a:picLocks noChangeAspect="1"/>
          </p:cNvPicPr>
          <p:nvPr/>
        </p:nvPicPr>
        <p:blipFill>
          <a:blip r:embed="rId3"/>
          <a:stretch>
            <a:fillRect/>
          </a:stretch>
        </p:blipFill>
        <p:spPr>
          <a:xfrm>
            <a:off x="809132" y="758525"/>
            <a:ext cx="2160022" cy="1527475"/>
          </a:xfrm>
          <a:prstGeom prst="rect">
            <a:avLst/>
          </a:prstGeom>
        </p:spPr>
      </p:pic>
      <p:pic>
        <p:nvPicPr>
          <p:cNvPr id="37" name="Picture 36">
            <a:extLst>
              <a:ext uri="{FF2B5EF4-FFF2-40B4-BE49-F238E27FC236}">
                <a16:creationId xmlns:a16="http://schemas.microsoft.com/office/drawing/2014/main" id="{D70293FB-4363-6069-488A-98981C51007F}"/>
              </a:ext>
            </a:extLst>
          </p:cNvPr>
          <p:cNvPicPr>
            <a:picLocks noChangeAspect="1"/>
          </p:cNvPicPr>
          <p:nvPr/>
        </p:nvPicPr>
        <p:blipFill>
          <a:blip r:embed="rId4"/>
          <a:stretch>
            <a:fillRect/>
          </a:stretch>
        </p:blipFill>
        <p:spPr>
          <a:xfrm>
            <a:off x="5609372" y="758525"/>
            <a:ext cx="2160022" cy="1527475"/>
          </a:xfrm>
          <a:prstGeom prst="rect">
            <a:avLst/>
          </a:prstGeom>
        </p:spPr>
      </p:pic>
      <p:pic>
        <p:nvPicPr>
          <p:cNvPr id="40" name="Picture 39">
            <a:extLst>
              <a:ext uri="{FF2B5EF4-FFF2-40B4-BE49-F238E27FC236}">
                <a16:creationId xmlns:a16="http://schemas.microsoft.com/office/drawing/2014/main" id="{045476B3-25CB-E1B9-A8E4-5370DE296001}"/>
              </a:ext>
            </a:extLst>
          </p:cNvPr>
          <p:cNvPicPr>
            <a:picLocks noChangeAspect="1"/>
          </p:cNvPicPr>
          <p:nvPr/>
        </p:nvPicPr>
        <p:blipFill>
          <a:blip r:embed="rId5"/>
          <a:stretch>
            <a:fillRect/>
          </a:stretch>
        </p:blipFill>
        <p:spPr>
          <a:xfrm>
            <a:off x="809132" y="2878261"/>
            <a:ext cx="2160022" cy="15274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pic>
        <p:nvPicPr>
          <p:cNvPr id="2" name="Image 0" descr="/home/claude/hormuz_pptx/region_map.png"/>
          <p:cNvPicPr>
            <a:picLocks noChangeAspect="1"/>
          </p:cNvPicPr>
          <p:nvPr/>
        </p:nvPicPr>
        <p:blipFill>
          <a:blip r:embed="rId3">
            <a:alphaModFix amt="22000"/>
          </a:blip>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00000">
              <a:alpha val="50000"/>
            </a:srgbClr>
          </a:solidFill>
          <a:ln/>
        </p:spPr>
      </p:sp>
      <p:sp>
        <p:nvSpPr>
          <p:cNvPr id="4" name="Shape 1"/>
          <p:cNvSpPr/>
          <p:nvPr/>
        </p:nvSpPr>
        <p:spPr>
          <a:xfrm>
            <a:off x="0" y="0"/>
            <a:ext cx="109728" cy="5143500"/>
          </a:xfrm>
          <a:prstGeom prst="rect">
            <a:avLst/>
          </a:prstGeom>
          <a:solidFill>
            <a:srgbClr val="F0A500"/>
          </a:solidFill>
          <a:ln/>
        </p:spPr>
      </p:sp>
      <p:sp>
        <p:nvSpPr>
          <p:cNvPr id="5" name="Text 2"/>
          <p:cNvSpPr/>
          <p:nvPr/>
        </p:nvSpPr>
        <p:spPr>
          <a:xfrm>
            <a:off x="365760" y="365760"/>
            <a:ext cx="8229600" cy="411480"/>
          </a:xfrm>
          <a:prstGeom prst="rect">
            <a:avLst/>
          </a:prstGeom>
          <a:noFill/>
          <a:ln/>
        </p:spPr>
        <p:txBody>
          <a:bodyPr wrap="square" lIns="0" tIns="0" rIns="0" bIns="0" rtlCol="0" anchor="ctr"/>
          <a:lstStyle/>
          <a:p>
            <a:pPr marL="0" indent="0">
              <a:buNone/>
            </a:pPr>
            <a:r>
              <a:rPr lang="en-US" sz="1400" b="1" kern="0" spc="500" dirty="0">
                <a:solidFill>
                  <a:srgbClr val="F0A500"/>
                </a:solidFill>
                <a:latin typeface="Calibri" pitchFamily="34" charset="0"/>
                <a:ea typeface="Calibri" pitchFamily="34" charset="-122"/>
                <a:cs typeface="Calibri" pitchFamily="34" charset="-120"/>
              </a:rPr>
              <a:t>CONCLUSION</a:t>
            </a:r>
            <a:endParaRPr lang="en-US" sz="1400" dirty="0"/>
          </a:p>
        </p:txBody>
      </p:sp>
      <p:sp>
        <p:nvSpPr>
          <p:cNvPr id="6" name="Text 3"/>
          <p:cNvSpPr/>
          <p:nvPr/>
        </p:nvSpPr>
        <p:spPr>
          <a:xfrm>
            <a:off x="365760" y="777240"/>
            <a:ext cx="7772400" cy="137160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The Strait of Hormuz:</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Geography as Global Power</a:t>
            </a:r>
            <a:endParaRPr lang="en-US" sz="3400" dirty="0"/>
          </a:p>
        </p:txBody>
      </p:sp>
      <p:sp>
        <p:nvSpPr>
          <p:cNvPr id="7" name="Shape 4"/>
          <p:cNvSpPr/>
          <p:nvPr/>
        </p:nvSpPr>
        <p:spPr>
          <a:xfrm>
            <a:off x="365760" y="2240280"/>
            <a:ext cx="8412480" cy="36576"/>
          </a:xfrm>
          <a:prstGeom prst="rect">
            <a:avLst/>
          </a:prstGeom>
          <a:solidFill>
            <a:srgbClr val="E74C3C"/>
          </a:solidFill>
          <a:ln/>
        </p:spPr>
      </p:sp>
      <p:sp>
        <p:nvSpPr>
          <p:cNvPr id="8" name="Shape 5"/>
          <p:cNvSpPr/>
          <p:nvPr/>
        </p:nvSpPr>
        <p:spPr>
          <a:xfrm>
            <a:off x="365760" y="2377440"/>
            <a:ext cx="73152" cy="502920"/>
          </a:xfrm>
          <a:prstGeom prst="rect">
            <a:avLst/>
          </a:prstGeom>
          <a:solidFill>
            <a:srgbClr val="E74C3C"/>
          </a:solidFill>
          <a:ln/>
        </p:spPr>
      </p:sp>
      <p:sp>
        <p:nvSpPr>
          <p:cNvPr id="9" name="Text 6"/>
          <p:cNvSpPr/>
          <p:nvPr/>
        </p:nvSpPr>
        <p:spPr>
          <a:xfrm>
            <a:off x="548640" y="2377440"/>
            <a:ext cx="8229600" cy="502920"/>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Our GIS analysis confirms the Strait of Hormuz is geographically irreplaceable — a 33 km gap that handles 21% of global oil trade.</a:t>
            </a:r>
            <a:endParaRPr lang="en-US" sz="1100" dirty="0"/>
          </a:p>
        </p:txBody>
      </p:sp>
      <p:sp>
        <p:nvSpPr>
          <p:cNvPr id="10" name="Shape 7"/>
          <p:cNvSpPr/>
          <p:nvPr/>
        </p:nvSpPr>
        <p:spPr>
          <a:xfrm>
            <a:off x="365760" y="3035808"/>
            <a:ext cx="73152" cy="502920"/>
          </a:xfrm>
          <a:prstGeom prst="rect">
            <a:avLst/>
          </a:prstGeom>
          <a:solidFill>
            <a:srgbClr val="E74C3C"/>
          </a:solidFill>
          <a:ln/>
        </p:spPr>
      </p:sp>
      <p:sp>
        <p:nvSpPr>
          <p:cNvPr id="11" name="Text 8"/>
          <p:cNvSpPr/>
          <p:nvPr/>
        </p:nvSpPr>
        <p:spPr>
          <a:xfrm>
            <a:off x="548640" y="3035808"/>
            <a:ext cx="8229600" cy="502920"/>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Four QGIS maps built from real data (Natural Earth, DIVA-GIS, Global Energy Monitor) prove the geographic pattern: resources concentrate around the Gulf, all exits lead through one point.</a:t>
            </a:r>
            <a:endParaRPr lang="en-US" sz="1100" dirty="0"/>
          </a:p>
        </p:txBody>
      </p:sp>
      <p:sp>
        <p:nvSpPr>
          <p:cNvPr id="12" name="Shape 9"/>
          <p:cNvSpPr/>
          <p:nvPr/>
        </p:nvSpPr>
        <p:spPr>
          <a:xfrm>
            <a:off x="365760" y="3694176"/>
            <a:ext cx="73152" cy="502920"/>
          </a:xfrm>
          <a:prstGeom prst="rect">
            <a:avLst/>
          </a:prstGeom>
          <a:solidFill>
            <a:srgbClr val="E74C3C"/>
          </a:solidFill>
          <a:ln/>
        </p:spPr>
      </p:sp>
      <p:sp>
        <p:nvSpPr>
          <p:cNvPr id="13" name="Text 10"/>
          <p:cNvSpPr/>
          <p:nvPr/>
        </p:nvSpPr>
        <p:spPr>
          <a:xfrm>
            <a:off x="548640" y="3694176"/>
            <a:ext cx="8229600" cy="502920"/>
          </a:xfrm>
          <a:prstGeom prst="rect">
            <a:avLst/>
          </a:prstGeom>
          <a:noFill/>
          <a:ln/>
        </p:spPr>
        <p:txBody>
          <a:bodyPr wrap="square" lIns="0" tIns="0" rIns="0" bIns="0" rtlCol="0" anchor="ctr"/>
          <a:lstStyle/>
          <a:p>
            <a:pPr marL="0" indent="0">
              <a:buNone/>
            </a:pPr>
            <a:r>
              <a:rPr lang="en-US" sz="1100" dirty="0">
                <a:solidFill>
                  <a:srgbClr val="D6E4F0"/>
                </a:solidFill>
                <a:latin typeface="Calibri" pitchFamily="34" charset="0"/>
                <a:ea typeface="Calibri" pitchFamily="34" charset="-122"/>
                <a:cs typeface="Calibri" pitchFamily="34" charset="-120"/>
              </a:rPr>
              <a:t>Physical geography — not politics — explains this location's global importance. The channel width, the bordering coastlines, and the absence of any alternative route are permanent geographic facts.</a:t>
            </a:r>
            <a:endParaRPr lang="en-US" sz="1100" dirty="0"/>
          </a:p>
        </p:txBody>
      </p:sp>
      <p:sp>
        <p:nvSpPr>
          <p:cNvPr id="14" name="Shape 11"/>
          <p:cNvSpPr/>
          <p:nvPr/>
        </p:nvSpPr>
        <p:spPr>
          <a:xfrm>
            <a:off x="365760" y="4407408"/>
            <a:ext cx="8412480" cy="457200"/>
          </a:xfrm>
          <a:prstGeom prst="rect">
            <a:avLst/>
          </a:prstGeom>
          <a:solidFill>
            <a:srgbClr val="1A3A5C"/>
          </a:solidFill>
          <a:ln/>
        </p:spPr>
      </p:sp>
      <p:sp>
        <p:nvSpPr>
          <p:cNvPr id="15" name="Text 12"/>
          <p:cNvSpPr/>
          <p:nvPr/>
        </p:nvSpPr>
        <p:spPr>
          <a:xfrm>
            <a:off x="365760" y="4434840"/>
            <a:ext cx="8412480" cy="365760"/>
          </a:xfrm>
          <a:prstGeom prst="rect">
            <a:avLst/>
          </a:prstGeom>
          <a:noFill/>
          <a:ln/>
        </p:spPr>
        <p:txBody>
          <a:bodyPr wrap="square" lIns="0" tIns="0" rIns="0" bIns="0" rtlCol="0" anchor="ctr"/>
          <a:lstStyle/>
          <a:p>
            <a:pPr marL="0" indent="0" algn="ctr">
              <a:buNone/>
            </a:pPr>
            <a:r>
              <a:rPr lang="en-US" sz="1400" b="1" dirty="0">
                <a:solidFill>
                  <a:srgbClr val="F0A500"/>
                </a:solidFill>
                <a:latin typeface="Calibri" pitchFamily="34" charset="0"/>
                <a:ea typeface="Calibri" pitchFamily="34" charset="-122"/>
                <a:cs typeface="Calibri" pitchFamily="34" charset="-120"/>
              </a:rPr>
              <a:t>Thank you  —  Questions welcome</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TotalTime>
  <Words>1924</Words>
  <Application>Microsoft Office PowerPoint</Application>
  <PresentationFormat>On-screen Show (16:9)</PresentationFormat>
  <Paragraphs>241</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Strategic Location of the Strait of Hormuz</dc:title>
  <dc:subject>PptxGenJS Presentation</dc:subject>
  <dc:creator>GIS Project Group</dc:creator>
  <cp:lastModifiedBy>IM/2021/030 - PERERA A.C.S.</cp:lastModifiedBy>
  <cp:revision>6</cp:revision>
  <dcterms:created xsi:type="dcterms:W3CDTF">2026-04-15T06:48:49Z</dcterms:created>
  <dcterms:modified xsi:type="dcterms:W3CDTF">2026-04-24T17:57:10Z</dcterms:modified>
</cp:coreProperties>
</file>